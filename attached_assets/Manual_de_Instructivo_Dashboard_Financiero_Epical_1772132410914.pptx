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5929313" y="-1428750"/>
            <a:ext cx="4286250" cy="4286250"/>
          </a:xfrm>
          <a:prstGeom prst="ellipse">
            <a:avLst/>
          </a:prstGeom>
          <a:solidFill>
            <a:srgbClr val="0066FF">
              <a:alpha val="10000"/>
            </a:srgbClr>
          </a:solidFill>
          <a:ln/>
        </p:spPr>
      </p:sp>
      <p:sp>
        <p:nvSpPr>
          <p:cNvPr id="4" name="Shape 1"/>
          <p:cNvSpPr/>
          <p:nvPr/>
        </p:nvSpPr>
        <p:spPr>
          <a:xfrm>
            <a:off x="-714375" y="3000375"/>
            <a:ext cx="2857500" cy="2857500"/>
          </a:xfrm>
          <a:prstGeom prst="ellipse">
            <a:avLst/>
          </a:prstGeom>
          <a:solidFill>
            <a:srgbClr val="00D4FF">
              <a:alpha val="10000"/>
            </a:srgbClr>
          </a:solidFill>
          <a:ln/>
        </p:spPr>
      </p:sp>
      <p:pic>
        <p:nvPicPr>
          <p:cNvPr id="5" name="Image 1" descr="preencoded.png">    </p:cNvPr>
          <p:cNvPicPr>
            <a:picLocks noChangeAspect="1"/>
          </p:cNvPicPr>
          <p:nvPr/>
        </p:nvPicPr>
        <p:blipFill>
          <a:blip r:embed="rId2"/>
          <a:stretch>
            <a:fillRect/>
          </a:stretch>
        </p:blipFill>
        <p:spPr>
          <a:xfrm>
            <a:off x="3500438" y="557213"/>
            <a:ext cx="2143125" cy="2143125"/>
          </a:xfrm>
          <a:prstGeom prst="rect">
            <a:avLst/>
          </a:prstGeom>
        </p:spPr>
      </p:pic>
      <p:sp>
        <p:nvSpPr>
          <p:cNvPr id="6" name="Shape 2"/>
          <p:cNvSpPr/>
          <p:nvPr/>
        </p:nvSpPr>
        <p:spPr>
          <a:xfrm>
            <a:off x="4143375" y="3343275"/>
            <a:ext cx="857250" cy="28575"/>
          </a:xfrm>
          <a:prstGeom prst="rect">
            <a:avLst/>
          </a:prstGeom>
          <a:solidFill>
            <a:srgbClr val="00D4FF"/>
          </a:solidFill>
          <a:ln/>
        </p:spPr>
      </p:sp>
      <p:sp>
        <p:nvSpPr>
          <p:cNvPr id="7" name="Text 3"/>
          <p:cNvSpPr/>
          <p:nvPr/>
        </p:nvSpPr>
        <p:spPr>
          <a:xfrm>
            <a:off x="2122559" y="3586163"/>
            <a:ext cx="4898854" cy="548618"/>
          </a:xfrm>
          <a:prstGeom prst="rect">
            <a:avLst/>
          </a:prstGeom>
          <a:noFill/>
          <a:ln/>
        </p:spPr>
        <p:txBody>
          <a:bodyPr wrap="none" lIns="0" tIns="0" rIns="0" bIns="0" rtlCol="0" anchor="ctr">
            <a:spAutoFit/>
          </a:bodyPr>
          <a:lstStyle/>
          <a:p>
            <a:pPr algn="ctr" indent="0" marL="0">
              <a:buNone/>
            </a:pPr>
            <a:r>
              <a:rPr lang="en-US" sz="3600" b="1" spc="-1" kern="0" dirty="0">
                <a:solidFill>
                  <a:srgbClr val="FFFFFF"/>
                </a:solidFill>
                <a:latin typeface="Noto Sans" pitchFamily="34" charset="0"/>
                <a:ea typeface="Noto Sans" pitchFamily="34" charset="-122"/>
                <a:cs typeface="Noto Sans" pitchFamily="34" charset="-120"/>
              </a:rPr>
              <a:t>Manual de Instructivo</a:t>
            </a:r>
            <a:endParaRPr lang="en-US" sz="3600" dirty="0"/>
          </a:p>
        </p:txBody>
      </p:sp>
      <p:sp>
        <p:nvSpPr>
          <p:cNvPr id="8" name="Text 4"/>
          <p:cNvSpPr/>
          <p:nvPr/>
        </p:nvSpPr>
        <p:spPr>
          <a:xfrm>
            <a:off x="2122559" y="4306230"/>
            <a:ext cx="4898854" cy="280029"/>
          </a:xfrm>
          <a:prstGeom prst="rect">
            <a:avLst/>
          </a:prstGeom>
          <a:noFill/>
          <a:ln/>
        </p:spPr>
        <p:txBody>
          <a:bodyPr wrap="none" lIns="0" tIns="0" rIns="0" bIns="0" rtlCol="0" anchor="ctr">
            <a:spAutoFit/>
          </a:bodyPr>
          <a:lstStyle/>
          <a:p>
            <a:pPr algn="ctr" indent="0" marL="0">
              <a:buNone/>
            </a:pPr>
            <a:r>
              <a:rPr lang="en-US" sz="1575" dirty="0">
                <a:solidFill>
                  <a:srgbClr val="E8E8E8"/>
                </a:solidFill>
                <a:latin typeface="Noto Sans" pitchFamily="34" charset="0"/>
                <a:ea typeface="Noto Sans" pitchFamily="34" charset="-122"/>
                <a:cs typeface="Noto Sans" pitchFamily="34" charset="-120"/>
              </a:rPr>
              <a:t>Dashboard Financiero</a:t>
            </a:r>
            <a:endParaRPr lang="en-US" sz="15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Resumen Ejecutivo</a:t>
            </a:r>
            <a:endParaRPr lang="en-US" sz="2025" dirty="0"/>
          </a:p>
        </p:txBody>
      </p:sp>
      <p:sp>
        <p:nvSpPr>
          <p:cNvPr id="4" name="Shape 1"/>
          <p:cNvSpPr/>
          <p:nvPr/>
        </p:nvSpPr>
        <p:spPr>
          <a:xfrm>
            <a:off x="428625" y="800100"/>
            <a:ext cx="571500" cy="21431"/>
          </a:xfrm>
          <a:prstGeom prst="rect">
            <a:avLst/>
          </a:prstGeom>
          <a:solidFill>
            <a:srgbClr val="00D4FF"/>
          </a:solidFill>
          <a:ln/>
        </p:spPr>
      </p:sp>
      <p:sp>
        <p:nvSpPr>
          <p:cNvPr id="5" name="Shape 2"/>
          <p:cNvSpPr/>
          <p:nvPr/>
        </p:nvSpPr>
        <p:spPr>
          <a:xfrm>
            <a:off x="428625" y="1035844"/>
            <a:ext cx="4036219" cy="1500104"/>
          </a:xfrm>
          <a:prstGeom prst="rect">
            <a:avLst/>
          </a:prstGeom>
          <a:solidFill>
            <a:srgbClr val="FFFFFF">
              <a:alpha val="5000"/>
            </a:srgbClr>
          </a:solidFill>
          <a:ln/>
        </p:spPr>
      </p:sp>
      <p:sp>
        <p:nvSpPr>
          <p:cNvPr id="6" name="Shape 3"/>
          <p:cNvSpPr/>
          <p:nvPr/>
        </p:nvSpPr>
        <p:spPr>
          <a:xfrm>
            <a:off x="428625" y="1035844"/>
            <a:ext cx="21431" cy="1500104"/>
          </a:xfrm>
          <a:prstGeom prst="rect">
            <a:avLst/>
          </a:prstGeom>
          <a:solidFill>
            <a:srgbClr val="0066FF"/>
          </a:solidFill>
          <a:ln/>
        </p:spPr>
      </p:sp>
      <p:pic>
        <p:nvPicPr>
          <p:cNvPr id="7" name="Image 1" descr="preencoded.png">    </p:cNvPr>
          <p:cNvPicPr>
            <a:picLocks noChangeAspect="1"/>
          </p:cNvPicPr>
          <p:nvPr/>
        </p:nvPicPr>
        <p:blipFill>
          <a:blip r:embed="rId2"/>
          <a:stretch>
            <a:fillRect/>
          </a:stretch>
        </p:blipFill>
        <p:spPr>
          <a:xfrm>
            <a:off x="571500" y="1214438"/>
            <a:ext cx="142875" cy="142875"/>
          </a:xfrm>
          <a:prstGeom prst="rect">
            <a:avLst/>
          </a:prstGeom>
        </p:spPr>
      </p:pic>
      <p:sp>
        <p:nvSpPr>
          <p:cNvPr id="8" name="Text 4"/>
          <p:cNvSpPr/>
          <p:nvPr/>
        </p:nvSpPr>
        <p:spPr>
          <a:xfrm>
            <a:off x="714375" y="1187648"/>
            <a:ext cx="836823" cy="194667"/>
          </a:xfrm>
          <a:prstGeom prst="rect">
            <a:avLst/>
          </a:prstGeom>
          <a:noFill/>
          <a:ln/>
        </p:spPr>
        <p:txBody>
          <a:bodyPr wrap="none" lIns="0" tIns="0" rIns="0" bIns="0" rtlCol="0" anchor="ctr">
            <a:spAutoFit/>
          </a:bodyPr>
          <a:lstStyle/>
          <a:p>
            <a:pPr indent="0" marL="0">
              <a:buNone/>
            </a:pPr>
            <a:r>
              <a:rPr lang="en-US" sz="1046" b="1" dirty="0">
                <a:solidFill>
                  <a:srgbClr val="00D4FF"/>
                </a:solidFill>
                <a:latin typeface="Noto Sans" pitchFamily="34" charset="0"/>
                <a:ea typeface="Noto Sans" pitchFamily="34" charset="-122"/>
                <a:cs typeface="Noto Sans" pitchFamily="34" charset="-120"/>
              </a:rPr>
              <a:t> Descripción</a:t>
            </a:r>
            <a:endParaRPr lang="en-US" sz="1046" dirty="0"/>
          </a:p>
        </p:txBody>
      </p:sp>
      <p:sp>
        <p:nvSpPr>
          <p:cNvPr id="9" name="Text 5"/>
          <p:cNvSpPr/>
          <p:nvPr/>
        </p:nvSpPr>
        <p:spPr>
          <a:xfrm>
            <a:off x="571500" y="1478756"/>
            <a:ext cx="3750469" cy="914316"/>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Esta página muestra los KPIs fundamentales a lo largo del año, proporcionando una visión general del desempeño financiero de Epical. Incluye métricas clave como activos, pasivos, ventas del mes, balance neto, EBIT, cashflow, margen operativo, markup y proyección de resultados. </a:t>
            </a:r>
            <a:endParaRPr lang="en-US" sz="837" dirty="0"/>
          </a:p>
        </p:txBody>
      </p:sp>
      <p:sp>
        <p:nvSpPr>
          <p:cNvPr id="10" name="Shape 6"/>
          <p:cNvSpPr/>
          <p:nvPr/>
        </p:nvSpPr>
        <p:spPr>
          <a:xfrm>
            <a:off x="4679156" y="1035844"/>
            <a:ext cx="4036219" cy="1500104"/>
          </a:xfrm>
          <a:prstGeom prst="rect">
            <a:avLst/>
          </a:prstGeom>
          <a:solidFill>
            <a:srgbClr val="FFFFFF">
              <a:alpha val="5000"/>
            </a:srgbClr>
          </a:solidFill>
          <a:ln/>
        </p:spPr>
      </p:sp>
      <p:sp>
        <p:nvSpPr>
          <p:cNvPr id="11" name="Shape 7"/>
          <p:cNvSpPr/>
          <p:nvPr/>
        </p:nvSpPr>
        <p:spPr>
          <a:xfrm>
            <a:off x="4679156" y="1035844"/>
            <a:ext cx="21431" cy="1500104"/>
          </a:xfrm>
          <a:prstGeom prst="rect">
            <a:avLst/>
          </a:prstGeom>
          <a:solidFill>
            <a:srgbClr val="0066FF"/>
          </a:solidFill>
          <a:ln/>
        </p:spPr>
      </p:sp>
      <p:pic>
        <p:nvPicPr>
          <p:cNvPr id="12" name="Image 2" descr="preencoded.png">    </p:cNvPr>
          <p:cNvPicPr>
            <a:picLocks noChangeAspect="1"/>
          </p:cNvPicPr>
          <p:nvPr/>
        </p:nvPicPr>
        <p:blipFill>
          <a:blip r:embed="rId3"/>
          <a:stretch>
            <a:fillRect/>
          </a:stretch>
        </p:blipFill>
        <p:spPr>
          <a:xfrm>
            <a:off x="4822031" y="1214438"/>
            <a:ext cx="142875" cy="142875"/>
          </a:xfrm>
          <a:prstGeom prst="rect">
            <a:avLst/>
          </a:prstGeom>
        </p:spPr>
      </p:pic>
      <p:sp>
        <p:nvSpPr>
          <p:cNvPr id="13" name="Text 8"/>
          <p:cNvSpPr/>
          <p:nvPr/>
        </p:nvSpPr>
        <p:spPr>
          <a:xfrm>
            <a:off x="4964906" y="1187648"/>
            <a:ext cx="998841" cy="194667"/>
          </a:xfrm>
          <a:prstGeom prst="rect">
            <a:avLst/>
          </a:prstGeom>
          <a:noFill/>
          <a:ln/>
        </p:spPr>
        <p:txBody>
          <a:bodyPr wrap="none" lIns="0" tIns="0" rIns="0" bIns="0" rtlCol="0" anchor="ctr">
            <a:spAutoFit/>
          </a:bodyPr>
          <a:lstStyle/>
          <a:p>
            <a:pPr indent="0" marL="0">
              <a:buNone/>
            </a:pPr>
            <a:r>
              <a:rPr lang="en-US" sz="1046" b="1" dirty="0">
                <a:solidFill>
                  <a:srgbClr val="00D4FF"/>
                </a:solidFill>
                <a:latin typeface="Noto Sans" pitchFamily="34" charset="0"/>
                <a:ea typeface="Noto Sans" pitchFamily="34" charset="-122"/>
                <a:cs typeface="Noto Sans" pitchFamily="34" charset="-120"/>
              </a:rPr>
              <a:t> Configuración</a:t>
            </a:r>
            <a:endParaRPr lang="en-US" sz="1046" dirty="0"/>
          </a:p>
        </p:txBody>
      </p:sp>
      <p:sp>
        <p:nvSpPr>
          <p:cNvPr id="14" name="Text 9"/>
          <p:cNvSpPr/>
          <p:nvPr/>
        </p:nvSpPr>
        <p:spPr>
          <a:xfrm>
            <a:off x="4964906" y="1485900"/>
            <a:ext cx="391846" cy="155377"/>
          </a:xfrm>
          <a:prstGeom prst="rect">
            <a:avLst/>
          </a:prstGeom>
          <a:noFill/>
          <a:ln/>
        </p:spPr>
        <p:txBody>
          <a:bodyPr wrap="none" lIns="0" tIns="0" rIns="0" bIns="0" rtlCol="0" anchor="ctr">
            <a:spAutoFit/>
          </a:bodyPr>
          <a:lstStyle/>
          <a:p>
            <a:pPr algn="l" indent="0" marL="0">
              <a:buNone/>
            </a:pPr>
            <a:r>
              <a:rPr lang="en-US" sz="837" b="1" dirty="0">
                <a:solidFill>
                  <a:srgbClr val="E8E8E8"/>
                </a:solidFill>
                <a:latin typeface="Noto Sans" pitchFamily="34" charset="0"/>
                <a:ea typeface="Noto Sans" pitchFamily="34" charset="-122"/>
                <a:cs typeface="Noto Sans" pitchFamily="34" charset="-120"/>
              </a:rPr>
              <a:t>Filtros:</a:t>
            </a:r>
            <a:endParaRPr lang="en-US" sz="837" dirty="0"/>
          </a:p>
        </p:txBody>
      </p:sp>
      <p:sp>
        <p:nvSpPr>
          <p:cNvPr id="15" name="Text 10"/>
          <p:cNvSpPr/>
          <p:nvPr/>
        </p:nvSpPr>
        <p:spPr>
          <a:xfrm>
            <a:off x="5356752" y="1485900"/>
            <a:ext cx="497439" cy="155377"/>
          </a:xfrm>
          <a:prstGeom prst="rect">
            <a:avLst/>
          </a:prstGeom>
          <a:noFill/>
          <a:ln/>
        </p:spPr>
        <p:txBody>
          <a:bodyPr wrap="none" lIns="0" tIns="0" rIns="0" bIns="0" rtlCol="0" anchor="ctr">
            <a:spAutoFit/>
          </a:bodyPr>
          <a:lstStyle/>
          <a:p>
            <a:pPr algn="l" indent="0" marL="0">
              <a:buNone/>
            </a:pPr>
            <a:r>
              <a:rPr lang="en-US" sz="837" dirty="0">
                <a:solidFill>
                  <a:srgbClr val="E8E8E8"/>
                </a:solidFill>
                <a:latin typeface="Noto Sans" pitchFamily="34" charset="0"/>
                <a:ea typeface="Noto Sans" pitchFamily="34" charset="-122"/>
                <a:cs typeface="Noto Sans" pitchFamily="34" charset="-120"/>
              </a:rPr>
              <a:t> Ninguno</a:t>
            </a:r>
            <a:endParaRPr lang="en-US" sz="837" dirty="0"/>
          </a:p>
        </p:txBody>
      </p:sp>
      <p:sp>
        <p:nvSpPr>
          <p:cNvPr id="16" name="Text 11"/>
          <p:cNvSpPr/>
          <p:nvPr/>
        </p:nvSpPr>
        <p:spPr>
          <a:xfrm>
            <a:off x="4964906" y="1700213"/>
            <a:ext cx="948137" cy="155377"/>
          </a:xfrm>
          <a:prstGeom prst="rect">
            <a:avLst/>
          </a:prstGeom>
          <a:noFill/>
          <a:ln/>
        </p:spPr>
        <p:txBody>
          <a:bodyPr wrap="none" lIns="0" tIns="0" rIns="0" bIns="0" rtlCol="0" anchor="ctr">
            <a:spAutoFit/>
          </a:bodyPr>
          <a:lstStyle/>
          <a:p>
            <a:pPr algn="l" indent="0" marL="0">
              <a:buNone/>
            </a:pPr>
            <a:r>
              <a:rPr lang="en-US" sz="837" b="1" dirty="0">
                <a:solidFill>
                  <a:srgbClr val="E8E8E8"/>
                </a:solidFill>
                <a:latin typeface="Noto Sans" pitchFamily="34" charset="0"/>
                <a:ea typeface="Noto Sans" pitchFamily="34" charset="-122"/>
                <a:cs typeface="Noto Sans" pitchFamily="34" charset="-120"/>
              </a:rPr>
              <a:t>Fuente de datos:</a:t>
            </a:r>
            <a:endParaRPr lang="en-US" sz="837" dirty="0"/>
          </a:p>
        </p:txBody>
      </p:sp>
      <p:sp>
        <p:nvSpPr>
          <p:cNvPr id="17" name="Text 12"/>
          <p:cNvSpPr/>
          <p:nvPr/>
        </p:nvSpPr>
        <p:spPr>
          <a:xfrm>
            <a:off x="5913044" y="1700213"/>
            <a:ext cx="1043350" cy="155377"/>
          </a:xfrm>
          <a:prstGeom prst="rect">
            <a:avLst/>
          </a:prstGeom>
          <a:noFill/>
          <a:ln/>
        </p:spPr>
        <p:txBody>
          <a:bodyPr wrap="none" lIns="0" tIns="0" rIns="0" bIns="0" rtlCol="0" anchor="ctr">
            <a:spAutoFit/>
          </a:bodyPr>
          <a:lstStyle/>
          <a:p>
            <a:pPr algn="l" indent="0" marL="0">
              <a:buNone/>
            </a:pPr>
            <a:r>
              <a:rPr lang="en-US" sz="837" dirty="0">
                <a:solidFill>
                  <a:srgbClr val="E8E8E8"/>
                </a:solidFill>
                <a:latin typeface="Noto Sans" pitchFamily="34" charset="0"/>
                <a:ea typeface="Noto Sans" pitchFamily="34" charset="-122"/>
                <a:cs typeface="Noto Sans" pitchFamily="34" charset="-120"/>
              </a:rPr>
              <a:t> Resumen Ejecutivo</a:t>
            </a:r>
            <a:endParaRPr lang="en-US" sz="837" dirty="0"/>
          </a:p>
        </p:txBody>
      </p:sp>
      <p:sp>
        <p:nvSpPr>
          <p:cNvPr id="18" name="Text 13"/>
          <p:cNvSpPr/>
          <p:nvPr/>
        </p:nvSpPr>
        <p:spPr>
          <a:xfrm>
            <a:off x="4964906" y="1914525"/>
            <a:ext cx="797951" cy="155377"/>
          </a:xfrm>
          <a:prstGeom prst="rect">
            <a:avLst/>
          </a:prstGeom>
          <a:noFill/>
          <a:ln/>
        </p:spPr>
        <p:txBody>
          <a:bodyPr wrap="none" lIns="0" tIns="0" rIns="0" bIns="0" rtlCol="0" anchor="ctr">
            <a:spAutoFit/>
          </a:bodyPr>
          <a:lstStyle/>
          <a:p>
            <a:pPr algn="l" indent="0" marL="0">
              <a:buNone/>
            </a:pPr>
            <a:r>
              <a:rPr lang="en-US" sz="837" b="1" dirty="0">
                <a:solidFill>
                  <a:srgbClr val="E8E8E8"/>
                </a:solidFill>
                <a:latin typeface="Noto Sans" pitchFamily="34" charset="0"/>
                <a:ea typeface="Noto Sans" pitchFamily="34" charset="-122"/>
                <a:cs typeface="Noto Sans" pitchFamily="34" charset="-120"/>
              </a:rPr>
              <a:t>Actualización:</a:t>
            </a:r>
            <a:endParaRPr lang="en-US" sz="837" dirty="0"/>
          </a:p>
        </p:txBody>
      </p:sp>
      <p:sp>
        <p:nvSpPr>
          <p:cNvPr id="19" name="Text 14"/>
          <p:cNvSpPr/>
          <p:nvPr/>
        </p:nvSpPr>
        <p:spPr>
          <a:xfrm>
            <a:off x="4964906" y="1914525"/>
            <a:ext cx="3454757" cy="326827"/>
          </a:xfrm>
          <a:prstGeom prst="rect">
            <a:avLst/>
          </a:prstGeom>
          <a:noFill/>
          <a:ln/>
        </p:spPr>
        <p:txBody>
          <a:bodyPr wrap="square" lIns="0" tIns="0" rIns="0" bIns="0" rtlCol="0" anchor="ctr">
            <a:spAutoFit/>
          </a:bodyPr>
          <a:lstStyle/>
          <a:p>
            <a:pPr algn="l" indent="0" marL="0">
              <a:buNone/>
            </a:pPr>
            <a:r>
              <a:rPr lang="en-US" sz="837" dirty="0">
                <a:solidFill>
                  <a:srgbClr val="E8E8E8"/>
                </a:solidFill>
                <a:latin typeface="Noto Sans" pitchFamily="34" charset="0"/>
                <a:ea typeface="Noto Sans" pitchFamily="34" charset="-122"/>
                <a:cs typeface="Noto Sans" pitchFamily="34" charset="-120"/>
              </a:rPr>
              <a:t> Las fórmulas de cálculo se muestran al final de la página</a:t>
            </a:r>
            <a:endParaRPr lang="en-US" sz="837" dirty="0"/>
          </a:p>
        </p:txBody>
      </p:sp>
      <p:pic>
        <p:nvPicPr>
          <p:cNvPr id="20" name="Image 3" descr="preencoded.png">    </p:cNvPr>
          <p:cNvPicPr>
            <a:picLocks noChangeAspect="1"/>
          </p:cNvPicPr>
          <p:nvPr/>
        </p:nvPicPr>
        <p:blipFill>
          <a:blip r:embed="rId4"/>
          <a:stretch>
            <a:fillRect/>
          </a:stretch>
        </p:blipFill>
        <p:spPr>
          <a:xfrm>
            <a:off x="428625" y="2714541"/>
            <a:ext cx="8286750" cy="2000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00688"/>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Activos</a:t>
            </a:r>
            <a:endParaRPr lang="en-US" sz="2025" dirty="0"/>
          </a:p>
        </p:txBody>
      </p:sp>
      <p:sp>
        <p:nvSpPr>
          <p:cNvPr id="4" name="Shape 1"/>
          <p:cNvSpPr/>
          <p:nvPr/>
        </p:nvSpPr>
        <p:spPr>
          <a:xfrm>
            <a:off x="428625" y="800100"/>
            <a:ext cx="571500" cy="21431"/>
          </a:xfrm>
          <a:prstGeom prst="rect">
            <a:avLst/>
          </a:prstGeom>
          <a:solidFill>
            <a:srgbClr val="00D4FF"/>
          </a:solidFill>
          <a:ln/>
        </p:spPr>
      </p:sp>
      <p:sp>
        <p:nvSpPr>
          <p:cNvPr id="5" name="Shape 2"/>
          <p:cNvSpPr/>
          <p:nvPr/>
        </p:nvSpPr>
        <p:spPr>
          <a:xfrm>
            <a:off x="428625" y="1000125"/>
            <a:ext cx="2714625" cy="1823052"/>
          </a:xfrm>
          <a:prstGeom prst="rect">
            <a:avLst/>
          </a:prstGeom>
          <a:solidFill>
            <a:srgbClr val="00D4FF">
              <a:alpha val="8000"/>
            </a:srgbClr>
          </a:solidFill>
          <a:ln/>
        </p:spPr>
      </p:sp>
      <p:sp>
        <p:nvSpPr>
          <p:cNvPr id="6" name="Text 3"/>
          <p:cNvSpPr/>
          <p:nvPr/>
        </p:nvSpPr>
        <p:spPr>
          <a:xfrm>
            <a:off x="600075" y="1171575"/>
            <a:ext cx="2371725" cy="214313"/>
          </a:xfrm>
          <a:prstGeom prst="rect">
            <a:avLst/>
          </a:prstGeom>
          <a:noFill/>
          <a:ln/>
        </p:spPr>
        <p:txBody>
          <a:bodyPr wrap="none" lIns="0" tIns="0" rIns="0" bIns="0" rtlCol="0" anchor="ctr">
            <a:spAutoFit/>
          </a:bodyPr>
          <a:lstStyle/>
          <a:p>
            <a:pPr indent="0" marL="0">
              <a:buNone/>
            </a:pPr>
            <a:r>
              <a:rPr lang="en-US" sz="1046" b="1" dirty="0">
                <a:solidFill>
                  <a:srgbClr val="00D4FF"/>
                </a:solidFill>
                <a:latin typeface="Noto Sans" pitchFamily="34" charset="0"/>
                <a:ea typeface="Noto Sans" pitchFamily="34" charset="-122"/>
                <a:cs typeface="Noto Sans" pitchFamily="34" charset="-120"/>
              </a:rPr>
              <a:t>Descripción</a:t>
            </a:r>
            <a:endParaRPr lang="en-US" sz="1046" dirty="0"/>
          </a:p>
        </p:txBody>
      </p:sp>
      <p:sp>
        <p:nvSpPr>
          <p:cNvPr id="7" name="Text 4"/>
          <p:cNvSpPr/>
          <p:nvPr/>
        </p:nvSpPr>
        <p:spPr>
          <a:xfrm>
            <a:off x="600075" y="1485900"/>
            <a:ext cx="2371725" cy="1165827"/>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Muestra el desglose de los activos hasta la actualidad, descompuestos en tres categorías principales: activos líquidos (Transferwise, Bank of America, Santander), activos de mediano plazo en crypto, y clientes a cobrar. </a:t>
            </a:r>
            <a:endParaRPr lang="en-US" sz="837" dirty="0"/>
          </a:p>
        </p:txBody>
      </p:sp>
      <p:sp>
        <p:nvSpPr>
          <p:cNvPr id="8" name="Shape 5"/>
          <p:cNvSpPr/>
          <p:nvPr/>
        </p:nvSpPr>
        <p:spPr>
          <a:xfrm>
            <a:off x="428625" y="2966052"/>
            <a:ext cx="2714625" cy="1357313"/>
          </a:xfrm>
          <a:prstGeom prst="rect">
            <a:avLst/>
          </a:prstGeom>
          <a:solidFill>
            <a:srgbClr val="FFFFFF">
              <a:alpha val="3000"/>
            </a:srgbClr>
          </a:solidFill>
          <a:ln/>
        </p:spPr>
      </p:sp>
      <p:sp>
        <p:nvSpPr>
          <p:cNvPr id="9" name="Text 6"/>
          <p:cNvSpPr/>
          <p:nvPr/>
        </p:nvSpPr>
        <p:spPr>
          <a:xfrm>
            <a:off x="571500" y="3108927"/>
            <a:ext cx="2428875"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Filtros disponibles</a:t>
            </a:r>
            <a:endParaRPr lang="en-US" sz="732" dirty="0"/>
          </a:p>
        </p:txBody>
      </p:sp>
      <p:sp>
        <p:nvSpPr>
          <p:cNvPr id="10" name="Text 7"/>
          <p:cNvSpPr/>
          <p:nvPr/>
        </p:nvSpPr>
        <p:spPr>
          <a:xfrm>
            <a:off x="571500" y="3287520"/>
            <a:ext cx="2428875" cy="171450"/>
          </a:xfrm>
          <a:prstGeom prst="rect">
            <a:avLst/>
          </a:prstGeom>
          <a:noFill/>
          <a:ln/>
        </p:spPr>
        <p:txBody>
          <a:bodyPr wrap="non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Mes</a:t>
            </a:r>
            <a:endParaRPr lang="en-US" sz="837" dirty="0"/>
          </a:p>
        </p:txBody>
      </p:sp>
      <p:sp>
        <p:nvSpPr>
          <p:cNvPr id="11" name="Text 8"/>
          <p:cNvSpPr/>
          <p:nvPr/>
        </p:nvSpPr>
        <p:spPr>
          <a:xfrm>
            <a:off x="571500" y="3558983"/>
            <a:ext cx="2428875"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de datos</a:t>
            </a:r>
            <a:endParaRPr lang="en-US" sz="732" dirty="0"/>
          </a:p>
        </p:txBody>
      </p:sp>
      <p:sp>
        <p:nvSpPr>
          <p:cNvPr id="12" name="Text 9"/>
          <p:cNvSpPr/>
          <p:nvPr/>
        </p:nvSpPr>
        <p:spPr>
          <a:xfrm>
            <a:off x="571500" y="3744720"/>
            <a:ext cx="1050075" cy="155377"/>
          </a:xfrm>
          <a:prstGeom prst="rect">
            <a:avLst/>
          </a:prstGeom>
          <a:noFill/>
          <a:ln/>
        </p:spPr>
        <p:txBody>
          <a:bodyPr wrap="non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 Activo (para chips)</a:t>
            </a:r>
            <a:endParaRPr lang="en-US" sz="837" dirty="0"/>
          </a:p>
        </p:txBody>
      </p:sp>
      <p:sp>
        <p:nvSpPr>
          <p:cNvPr id="13" name="Text 10"/>
          <p:cNvSpPr/>
          <p:nvPr/>
        </p:nvSpPr>
        <p:spPr>
          <a:xfrm>
            <a:off x="571500" y="3916170"/>
            <a:ext cx="1611530" cy="155377"/>
          </a:xfrm>
          <a:prstGeom prst="rect">
            <a:avLst/>
          </a:prstGeom>
          <a:noFill/>
          <a:ln/>
        </p:spPr>
        <p:txBody>
          <a:bodyPr wrap="non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 Activos [Aux] (para desglose) </a:t>
            </a:r>
            <a:endParaRPr lang="en-US" sz="837" dirty="0"/>
          </a:p>
        </p:txBody>
      </p:sp>
      <p:pic>
        <p:nvPicPr>
          <p:cNvPr id="14" name="Image 1" descr="preencoded.png">    </p:cNvPr>
          <p:cNvPicPr>
            <a:picLocks noChangeAspect="1"/>
          </p:cNvPicPr>
          <p:nvPr/>
        </p:nvPicPr>
        <p:blipFill>
          <a:blip r:embed="rId2"/>
          <a:stretch>
            <a:fillRect/>
          </a:stretch>
        </p:blipFill>
        <p:spPr>
          <a:xfrm>
            <a:off x="3357563" y="1000125"/>
            <a:ext cx="5357813" cy="41433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292890"/>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Clientes a Cobrar</a:t>
            </a:r>
            <a:endParaRPr lang="en-US" sz="2025" dirty="0"/>
          </a:p>
        </p:txBody>
      </p:sp>
      <p:sp>
        <p:nvSpPr>
          <p:cNvPr id="4" name="Shape 1"/>
          <p:cNvSpPr/>
          <p:nvPr/>
        </p:nvSpPr>
        <p:spPr>
          <a:xfrm>
            <a:off x="428625" y="800100"/>
            <a:ext cx="571500" cy="21431"/>
          </a:xfrm>
          <a:prstGeom prst="rect">
            <a:avLst/>
          </a:prstGeom>
          <a:solidFill>
            <a:srgbClr val="00D4FF"/>
          </a:solidFill>
          <a:ln/>
        </p:spPr>
      </p:sp>
      <p:pic>
        <p:nvPicPr>
          <p:cNvPr id="5" name="Image 1" descr="preencoded.png">    </p:cNvPr>
          <p:cNvPicPr>
            <a:picLocks noChangeAspect="1"/>
          </p:cNvPicPr>
          <p:nvPr/>
        </p:nvPicPr>
        <p:blipFill>
          <a:blip r:embed="rId2"/>
          <a:stretch>
            <a:fillRect/>
          </a:stretch>
        </p:blipFill>
        <p:spPr>
          <a:xfrm>
            <a:off x="428625" y="1000125"/>
            <a:ext cx="5357813" cy="4000500"/>
          </a:xfrm>
          <a:prstGeom prst="rect">
            <a:avLst/>
          </a:prstGeom>
        </p:spPr>
      </p:pic>
      <p:sp>
        <p:nvSpPr>
          <p:cNvPr id="6" name="Shape 2"/>
          <p:cNvSpPr/>
          <p:nvPr/>
        </p:nvSpPr>
        <p:spPr>
          <a:xfrm>
            <a:off x="6000750" y="1000125"/>
            <a:ext cx="2714625" cy="1758758"/>
          </a:xfrm>
          <a:prstGeom prst="rect">
            <a:avLst/>
          </a:prstGeom>
          <a:solidFill>
            <a:srgbClr val="00D4FF">
              <a:alpha val="5000"/>
            </a:srgbClr>
          </a:solidFill>
          <a:ln/>
        </p:spPr>
      </p:sp>
      <p:sp>
        <p:nvSpPr>
          <p:cNvPr id="7" name="Text 3"/>
          <p:cNvSpPr/>
          <p:nvPr/>
        </p:nvSpPr>
        <p:spPr>
          <a:xfrm>
            <a:off x="6157913" y="1157288"/>
            <a:ext cx="2400300" cy="192881"/>
          </a:xfrm>
          <a:prstGeom prst="rect">
            <a:avLst/>
          </a:prstGeom>
          <a:noFill/>
          <a:ln/>
        </p:spPr>
        <p:txBody>
          <a:bodyPr wrap="none" lIns="0" tIns="0" rIns="0" bIns="0" rtlCol="0" anchor="ctr">
            <a:spAutoFit/>
          </a:bodyPr>
          <a:lstStyle/>
          <a:p>
            <a:pPr indent="0" marL="0">
              <a:buNone/>
            </a:pPr>
            <a:r>
              <a:rPr lang="en-US" sz="942" b="1" spc="1" kern="0" dirty="0">
                <a:solidFill>
                  <a:srgbClr val="00D4FF"/>
                </a:solidFill>
                <a:latin typeface="Noto Sans" pitchFamily="34" charset="0"/>
                <a:ea typeface="Noto Sans" pitchFamily="34" charset="-122"/>
                <a:cs typeface="Noto Sans" pitchFamily="34" charset="-120"/>
              </a:rPr>
              <a:t>Descripción</a:t>
            </a:r>
            <a:endParaRPr lang="en-US" sz="942" dirty="0"/>
          </a:p>
        </p:txBody>
      </p:sp>
      <p:sp>
        <p:nvSpPr>
          <p:cNvPr id="8" name="Text 4"/>
          <p:cNvSpPr/>
          <p:nvPr/>
        </p:nvSpPr>
        <p:spPr>
          <a:xfrm>
            <a:off x="6157913" y="1435894"/>
            <a:ext cx="2400300" cy="1165827"/>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Desglose detallado de los activos de mediano plazo correspondientes a clientes a cobrar. Muestra información completa sobre clientes pendientes de pago, estado de vencimiento de facturas, fechas de emisión y fechas programadas de cobro. </a:t>
            </a:r>
            <a:endParaRPr lang="en-US" sz="837" dirty="0"/>
          </a:p>
        </p:txBody>
      </p:sp>
      <p:sp>
        <p:nvSpPr>
          <p:cNvPr id="9" name="Shape 5"/>
          <p:cNvSpPr/>
          <p:nvPr/>
        </p:nvSpPr>
        <p:spPr>
          <a:xfrm>
            <a:off x="6000750" y="2930333"/>
            <a:ext cx="2714625" cy="1218009"/>
          </a:xfrm>
          <a:prstGeom prst="rect">
            <a:avLst/>
          </a:prstGeom>
          <a:solidFill>
            <a:srgbClr val="00D4FF">
              <a:alpha val="5000"/>
            </a:srgbClr>
          </a:solidFill>
          <a:ln/>
        </p:spPr>
      </p:sp>
      <p:sp>
        <p:nvSpPr>
          <p:cNvPr id="10" name="Text 6"/>
          <p:cNvSpPr/>
          <p:nvPr/>
        </p:nvSpPr>
        <p:spPr>
          <a:xfrm>
            <a:off x="6157913" y="3087495"/>
            <a:ext cx="2400300" cy="192881"/>
          </a:xfrm>
          <a:prstGeom prst="rect">
            <a:avLst/>
          </a:prstGeom>
          <a:noFill/>
          <a:ln/>
        </p:spPr>
        <p:txBody>
          <a:bodyPr wrap="none" lIns="0" tIns="0" rIns="0" bIns="0" rtlCol="0" anchor="ctr">
            <a:spAutoFit/>
          </a:bodyPr>
          <a:lstStyle/>
          <a:p>
            <a:pPr indent="0" marL="0">
              <a:buNone/>
            </a:pPr>
            <a:r>
              <a:rPr lang="en-US" sz="942" b="1" spc="1" kern="0" dirty="0">
                <a:solidFill>
                  <a:srgbClr val="00D4FF"/>
                </a:solidFill>
                <a:latin typeface="Noto Sans" pitchFamily="34" charset="0"/>
                <a:ea typeface="Noto Sans" pitchFamily="34" charset="-122"/>
                <a:cs typeface="Noto Sans" pitchFamily="34" charset="-120"/>
              </a:rPr>
              <a:t>Filtros Disponibles</a:t>
            </a:r>
            <a:endParaRPr lang="en-US" sz="942" dirty="0"/>
          </a:p>
        </p:txBody>
      </p:sp>
      <p:pic>
        <p:nvPicPr>
          <p:cNvPr id="11" name="Image 2" descr="preencoded.png">    </p:cNvPr>
          <p:cNvPicPr>
            <a:picLocks noChangeAspect="1"/>
          </p:cNvPicPr>
          <p:nvPr/>
        </p:nvPicPr>
        <p:blipFill>
          <a:blip r:embed="rId3"/>
          <a:stretch>
            <a:fillRect/>
          </a:stretch>
        </p:blipFill>
        <p:spPr>
          <a:xfrm>
            <a:off x="6157913" y="3396462"/>
            <a:ext cx="87511" cy="100013"/>
          </a:xfrm>
          <a:prstGeom prst="rect">
            <a:avLst/>
          </a:prstGeom>
        </p:spPr>
      </p:pic>
      <p:sp>
        <p:nvSpPr>
          <p:cNvPr id="12" name="Text 7"/>
          <p:cNvSpPr/>
          <p:nvPr/>
        </p:nvSpPr>
        <p:spPr>
          <a:xfrm>
            <a:off x="6316861" y="3366102"/>
            <a:ext cx="1352429" cy="160734"/>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Corte año/mes (mes y año)</a:t>
            </a:r>
            <a:endParaRPr lang="en-US" sz="785" dirty="0"/>
          </a:p>
        </p:txBody>
      </p:sp>
      <p:pic>
        <p:nvPicPr>
          <p:cNvPr id="13" name="Image 3" descr="preencoded.png">    </p:cNvPr>
          <p:cNvPicPr>
            <a:picLocks noChangeAspect="1"/>
          </p:cNvPicPr>
          <p:nvPr/>
        </p:nvPicPr>
        <p:blipFill>
          <a:blip r:embed="rId4"/>
          <a:stretch>
            <a:fillRect/>
          </a:stretch>
        </p:blipFill>
        <p:spPr>
          <a:xfrm>
            <a:off x="6157913" y="3628634"/>
            <a:ext cx="87511" cy="100013"/>
          </a:xfrm>
          <a:prstGeom prst="rect">
            <a:avLst/>
          </a:prstGeom>
        </p:spPr>
      </p:pic>
      <p:sp>
        <p:nvSpPr>
          <p:cNvPr id="14" name="Text 8"/>
          <p:cNvSpPr/>
          <p:nvPr/>
        </p:nvSpPr>
        <p:spPr>
          <a:xfrm>
            <a:off x="6316861" y="3598273"/>
            <a:ext cx="348816" cy="160734"/>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Cliente</a:t>
            </a:r>
            <a:endParaRPr lang="en-US" sz="785" dirty="0"/>
          </a:p>
        </p:txBody>
      </p:sp>
      <p:pic>
        <p:nvPicPr>
          <p:cNvPr id="15" name="Image 4" descr="preencoded.png">    </p:cNvPr>
          <p:cNvPicPr>
            <a:picLocks noChangeAspect="1"/>
          </p:cNvPicPr>
          <p:nvPr/>
        </p:nvPicPr>
        <p:blipFill>
          <a:blip r:embed="rId5"/>
          <a:stretch>
            <a:fillRect/>
          </a:stretch>
        </p:blipFill>
        <p:spPr>
          <a:xfrm>
            <a:off x="6157913" y="3860806"/>
            <a:ext cx="100013" cy="100013"/>
          </a:xfrm>
          <a:prstGeom prst="rect">
            <a:avLst/>
          </a:prstGeom>
        </p:spPr>
      </p:pic>
      <p:sp>
        <p:nvSpPr>
          <p:cNvPr id="16" name="Text 9"/>
          <p:cNvSpPr/>
          <p:nvPr/>
        </p:nvSpPr>
        <p:spPr>
          <a:xfrm>
            <a:off x="6329363" y="3830445"/>
            <a:ext cx="1140684" cy="160734"/>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Estado de vencimiento</a:t>
            </a:r>
            <a:endParaRPr lang="en-US" sz="785" dirty="0"/>
          </a:p>
        </p:txBody>
      </p:sp>
      <p:sp>
        <p:nvSpPr>
          <p:cNvPr id="17" name="Shape 10"/>
          <p:cNvSpPr/>
          <p:nvPr/>
        </p:nvSpPr>
        <p:spPr>
          <a:xfrm>
            <a:off x="6000750" y="4319792"/>
            <a:ext cx="2714625" cy="1615911"/>
          </a:xfrm>
          <a:prstGeom prst="rect">
            <a:avLst/>
          </a:prstGeom>
          <a:solidFill>
            <a:srgbClr val="00D4FF">
              <a:alpha val="5000"/>
            </a:srgbClr>
          </a:solidFill>
          <a:ln/>
        </p:spPr>
      </p:sp>
      <p:sp>
        <p:nvSpPr>
          <p:cNvPr id="18" name="Text 11"/>
          <p:cNvSpPr/>
          <p:nvPr/>
        </p:nvSpPr>
        <p:spPr>
          <a:xfrm>
            <a:off x="6157913" y="4476955"/>
            <a:ext cx="2400300" cy="192881"/>
          </a:xfrm>
          <a:prstGeom prst="rect">
            <a:avLst/>
          </a:prstGeom>
          <a:noFill/>
          <a:ln/>
        </p:spPr>
        <p:txBody>
          <a:bodyPr wrap="none" lIns="0" tIns="0" rIns="0" bIns="0" rtlCol="0" anchor="ctr">
            <a:spAutoFit/>
          </a:bodyPr>
          <a:lstStyle/>
          <a:p>
            <a:pPr indent="0" marL="0">
              <a:buNone/>
            </a:pPr>
            <a:r>
              <a:rPr lang="en-US" sz="942" b="1" spc="1" kern="0" dirty="0">
                <a:solidFill>
                  <a:srgbClr val="00D4FF"/>
                </a:solidFill>
                <a:latin typeface="Noto Sans" pitchFamily="34" charset="0"/>
                <a:ea typeface="Noto Sans" pitchFamily="34" charset="-122"/>
                <a:cs typeface="Noto Sans" pitchFamily="34" charset="-120"/>
              </a:rPr>
              <a:t>Fuente de Datos</a:t>
            </a:r>
            <a:endParaRPr lang="en-US" sz="942" dirty="0"/>
          </a:p>
        </p:txBody>
      </p:sp>
      <p:sp>
        <p:nvSpPr>
          <p:cNvPr id="19" name="Text 12"/>
          <p:cNvSpPr/>
          <p:nvPr/>
        </p:nvSpPr>
        <p:spPr>
          <a:xfrm>
            <a:off x="6157913" y="4755561"/>
            <a:ext cx="2400300" cy="194304"/>
          </a:xfrm>
          <a:prstGeom prst="rect">
            <a:avLst/>
          </a:prstGeom>
          <a:noFill/>
          <a:ln/>
        </p:spPr>
        <p:txBody>
          <a:bodyPr wrap="non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Activo</a:t>
            </a:r>
            <a:endParaRPr lang="en-US" sz="837" dirty="0"/>
          </a:p>
        </p:txBody>
      </p:sp>
      <p:sp>
        <p:nvSpPr>
          <p:cNvPr id="20" name="Shape 13"/>
          <p:cNvSpPr/>
          <p:nvPr/>
        </p:nvSpPr>
        <p:spPr>
          <a:xfrm>
            <a:off x="6157913" y="5035590"/>
            <a:ext cx="2400300" cy="742950"/>
          </a:xfrm>
          <a:prstGeom prst="rect">
            <a:avLst/>
          </a:prstGeom>
          <a:solidFill>
            <a:srgbClr val="0066FF">
              <a:alpha val="15000"/>
            </a:srgbClr>
          </a:solidFill>
          <a:ln/>
        </p:spPr>
      </p:sp>
      <p:sp>
        <p:nvSpPr>
          <p:cNvPr id="21" name="Shape 14"/>
          <p:cNvSpPr/>
          <p:nvPr/>
        </p:nvSpPr>
        <p:spPr>
          <a:xfrm>
            <a:off x="6157913" y="5035590"/>
            <a:ext cx="21431" cy="742950"/>
          </a:xfrm>
          <a:prstGeom prst="rect">
            <a:avLst/>
          </a:prstGeom>
          <a:solidFill>
            <a:srgbClr val="0066FF"/>
          </a:solidFill>
          <a:ln/>
        </p:spPr>
      </p:sp>
      <p:sp>
        <p:nvSpPr>
          <p:cNvPr id="22" name="Text 15"/>
          <p:cNvSpPr/>
          <p:nvPr/>
        </p:nvSpPr>
        <p:spPr>
          <a:xfrm>
            <a:off x="6272213" y="5149890"/>
            <a:ext cx="2171700" cy="514350"/>
          </a:xfrm>
          <a:prstGeom prst="rect">
            <a:avLst/>
          </a:prstGeom>
          <a:noFill/>
          <a:ln/>
        </p:spPr>
        <p:txBody>
          <a:bodyPr wrap="square" lIns="0" tIns="0" rIns="0" bIns="0" rtlCol="0" anchor="ctr">
            <a:spAutoFit/>
          </a:bodyPr>
          <a:lstStyle/>
          <a:p>
            <a:pPr indent="0" marL="0">
              <a:buNone/>
            </a:pPr>
            <a:r>
              <a:rPr lang="en-US" sz="785" dirty="0">
                <a:solidFill>
                  <a:srgbClr val="FFFFFF"/>
                </a:solidFill>
                <a:latin typeface="Noto Sans" pitchFamily="34" charset="0"/>
                <a:ea typeface="Noto Sans" pitchFamily="34" charset="-122"/>
                <a:cs typeface="Noto Sans" pitchFamily="34" charset="-120"/>
              </a:rPr>
              <a:t> Esta vista permite identificar rápidamente facturas vencidas y gestionar el seguimiento de cobros pendientes. </a:t>
            </a:r>
            <a:endParaRPr lang="en-US" sz="78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79188"/>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Pasivo</a:t>
            </a:r>
            <a:endParaRPr lang="en-US" sz="2025" dirty="0"/>
          </a:p>
        </p:txBody>
      </p:sp>
      <p:sp>
        <p:nvSpPr>
          <p:cNvPr id="4" name="Shape 1"/>
          <p:cNvSpPr/>
          <p:nvPr/>
        </p:nvSpPr>
        <p:spPr>
          <a:xfrm>
            <a:off x="428625" y="800100"/>
            <a:ext cx="571500" cy="21431"/>
          </a:xfrm>
          <a:prstGeom prst="rect">
            <a:avLst/>
          </a:prstGeom>
          <a:solidFill>
            <a:srgbClr val="00D4FF"/>
          </a:solidFill>
          <a:ln/>
        </p:spPr>
      </p:sp>
      <p:pic>
        <p:nvPicPr>
          <p:cNvPr id="5" name="Image 1" descr="preencoded.png">    </p:cNvPr>
          <p:cNvPicPr>
            <a:picLocks noChangeAspect="1"/>
          </p:cNvPicPr>
          <p:nvPr/>
        </p:nvPicPr>
        <p:blipFill>
          <a:blip r:embed="rId2"/>
          <a:stretch>
            <a:fillRect/>
          </a:stretch>
        </p:blipFill>
        <p:spPr>
          <a:xfrm>
            <a:off x="428625" y="1000125"/>
            <a:ext cx="5357813" cy="4000500"/>
          </a:xfrm>
          <a:prstGeom prst="rect">
            <a:avLst/>
          </a:prstGeom>
        </p:spPr>
      </p:pic>
      <p:sp>
        <p:nvSpPr>
          <p:cNvPr id="6" name="Shape 2"/>
          <p:cNvSpPr/>
          <p:nvPr/>
        </p:nvSpPr>
        <p:spPr>
          <a:xfrm>
            <a:off x="6000750" y="1000125"/>
            <a:ext cx="2714625" cy="1837339"/>
          </a:xfrm>
          <a:prstGeom prst="rect">
            <a:avLst/>
          </a:prstGeom>
          <a:solidFill>
            <a:srgbClr val="00D4FF">
              <a:alpha val="5000"/>
            </a:srgbClr>
          </a:solidFill>
          <a:ln/>
        </p:spPr>
      </p:sp>
      <p:pic>
        <p:nvPicPr>
          <p:cNvPr id="7" name="Image 2" descr="preencoded.png">    </p:cNvPr>
          <p:cNvPicPr>
            <a:picLocks noChangeAspect="1"/>
          </p:cNvPicPr>
          <p:nvPr/>
        </p:nvPicPr>
        <p:blipFill>
          <a:blip r:embed="rId3"/>
          <a:stretch>
            <a:fillRect/>
          </a:stretch>
        </p:blipFill>
        <p:spPr>
          <a:xfrm>
            <a:off x="6172200" y="1207294"/>
            <a:ext cx="142875" cy="142875"/>
          </a:xfrm>
          <a:prstGeom prst="rect">
            <a:avLst/>
          </a:prstGeom>
        </p:spPr>
      </p:pic>
      <p:sp>
        <p:nvSpPr>
          <p:cNvPr id="8" name="Text 3"/>
          <p:cNvSpPr/>
          <p:nvPr/>
        </p:nvSpPr>
        <p:spPr>
          <a:xfrm>
            <a:off x="6386513" y="1171575"/>
            <a:ext cx="799681" cy="214313"/>
          </a:xfrm>
          <a:prstGeom prst="rect">
            <a:avLst/>
          </a:prstGeom>
          <a:noFill/>
          <a:ln/>
        </p:spPr>
        <p:txBody>
          <a:bodyPr wrap="none" lIns="0" tIns="0" rIns="0" bIns="0" rtlCol="0" anchor="ctr">
            <a:spAutoFit/>
          </a:bodyPr>
          <a:lstStyle/>
          <a:p>
            <a:pPr indent="0" marL="0">
              <a:buNone/>
            </a:pPr>
            <a:r>
              <a:rPr lang="en-US" sz="1046" b="1" dirty="0">
                <a:solidFill>
                  <a:srgbClr val="00D4FF"/>
                </a:solidFill>
                <a:latin typeface="Noto Sans" pitchFamily="34" charset="0"/>
                <a:ea typeface="Noto Sans" pitchFamily="34" charset="-122"/>
                <a:cs typeface="Noto Sans" pitchFamily="34" charset="-120"/>
              </a:rPr>
              <a:t> Descripción </a:t>
            </a:r>
            <a:endParaRPr lang="en-US" sz="1046" dirty="0"/>
          </a:p>
        </p:txBody>
      </p:sp>
      <p:sp>
        <p:nvSpPr>
          <p:cNvPr id="9" name="Text 4"/>
          <p:cNvSpPr/>
          <p:nvPr/>
        </p:nvSpPr>
        <p:spPr>
          <a:xfrm>
            <a:off x="6172200" y="1500188"/>
            <a:ext cx="2371725" cy="1165827"/>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Desglose completo de los pasivos de Epical, clasificados por tipo: proveedores a pagar versus provisión de impuestos USA. Incluye gráficos históricos de evolución y distribución detallada de costos por categoría. </a:t>
            </a:r>
            <a:endParaRPr lang="en-US" sz="837" dirty="0"/>
          </a:p>
        </p:txBody>
      </p:sp>
      <p:sp>
        <p:nvSpPr>
          <p:cNvPr id="10" name="Shape 5"/>
          <p:cNvSpPr/>
          <p:nvPr/>
        </p:nvSpPr>
        <p:spPr>
          <a:xfrm>
            <a:off x="6000750" y="2980339"/>
            <a:ext cx="2714625" cy="2041661"/>
          </a:xfrm>
          <a:prstGeom prst="rect">
            <a:avLst/>
          </a:prstGeom>
          <a:solidFill>
            <a:srgbClr val="00D4FF">
              <a:alpha val="5000"/>
            </a:srgbClr>
          </a:solidFill>
          <a:ln/>
        </p:spPr>
      </p:sp>
      <p:pic>
        <p:nvPicPr>
          <p:cNvPr id="11" name="Image 3" descr="preencoded.png">    </p:cNvPr>
          <p:cNvPicPr>
            <a:picLocks noChangeAspect="1"/>
          </p:cNvPicPr>
          <p:nvPr/>
        </p:nvPicPr>
        <p:blipFill>
          <a:blip r:embed="rId4"/>
          <a:stretch>
            <a:fillRect/>
          </a:stretch>
        </p:blipFill>
        <p:spPr>
          <a:xfrm>
            <a:off x="6172200" y="3187508"/>
            <a:ext cx="142875" cy="142875"/>
          </a:xfrm>
          <a:prstGeom prst="rect">
            <a:avLst/>
          </a:prstGeom>
        </p:spPr>
      </p:pic>
      <p:sp>
        <p:nvSpPr>
          <p:cNvPr id="12" name="Text 6"/>
          <p:cNvSpPr/>
          <p:nvPr/>
        </p:nvSpPr>
        <p:spPr>
          <a:xfrm>
            <a:off x="6386513" y="3151789"/>
            <a:ext cx="961699" cy="214313"/>
          </a:xfrm>
          <a:prstGeom prst="rect">
            <a:avLst/>
          </a:prstGeom>
          <a:noFill/>
          <a:ln/>
        </p:spPr>
        <p:txBody>
          <a:bodyPr wrap="none" lIns="0" tIns="0" rIns="0" bIns="0" rtlCol="0" anchor="ctr">
            <a:spAutoFit/>
          </a:bodyPr>
          <a:lstStyle/>
          <a:p>
            <a:pPr indent="0" marL="0">
              <a:buNone/>
            </a:pPr>
            <a:r>
              <a:rPr lang="en-US" sz="1046" b="1" dirty="0">
                <a:solidFill>
                  <a:srgbClr val="00D4FF"/>
                </a:solidFill>
                <a:latin typeface="Noto Sans" pitchFamily="34" charset="0"/>
                <a:ea typeface="Noto Sans" pitchFamily="34" charset="-122"/>
                <a:cs typeface="Noto Sans" pitchFamily="34" charset="-120"/>
              </a:rPr>
              <a:t> Configuración </a:t>
            </a:r>
            <a:endParaRPr lang="en-US" sz="1046" dirty="0"/>
          </a:p>
        </p:txBody>
      </p:sp>
      <p:sp>
        <p:nvSpPr>
          <p:cNvPr id="13" name="Text 7"/>
          <p:cNvSpPr/>
          <p:nvPr/>
        </p:nvSpPr>
        <p:spPr>
          <a:xfrm>
            <a:off x="6172200" y="3551839"/>
            <a:ext cx="392962" cy="194304"/>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FILTROS</a:t>
            </a:r>
            <a:endParaRPr lang="en-US" sz="732" dirty="0"/>
          </a:p>
        </p:txBody>
      </p:sp>
      <p:sp>
        <p:nvSpPr>
          <p:cNvPr id="14" name="Text 8"/>
          <p:cNvSpPr/>
          <p:nvPr/>
        </p:nvSpPr>
        <p:spPr>
          <a:xfrm>
            <a:off x="8047853" y="3551839"/>
            <a:ext cx="496072" cy="194304"/>
          </a:xfrm>
          <a:prstGeom prst="rect">
            <a:avLst/>
          </a:prstGeom>
          <a:noFill/>
          <a:ln/>
        </p:spPr>
        <p:txBody>
          <a:bodyPr wrap="none" lIns="0" tIns="0" rIns="0" bIns="0" rtlCol="0" anchor="ctr">
            <a:spAutoFit/>
          </a:bodyPr>
          <a:lstStyle/>
          <a:p>
            <a:pPr indent="0" marL="0">
              <a:buNone/>
            </a:pPr>
            <a:r>
              <a:rPr lang="en-US" sz="837" dirty="0">
                <a:solidFill>
                  <a:srgbClr val="FFFFFF"/>
                </a:solidFill>
                <a:latin typeface="Noto Sans" pitchFamily="34" charset="0"/>
                <a:ea typeface="Noto Sans" pitchFamily="34" charset="-122"/>
                <a:cs typeface="Noto Sans" pitchFamily="34" charset="-120"/>
              </a:rPr>
              <a:t>Año, Mes</a:t>
            </a:r>
            <a:endParaRPr lang="en-US" sz="837" dirty="0"/>
          </a:p>
        </p:txBody>
      </p:sp>
      <p:sp>
        <p:nvSpPr>
          <p:cNvPr id="15" name="Text 9"/>
          <p:cNvSpPr/>
          <p:nvPr/>
        </p:nvSpPr>
        <p:spPr>
          <a:xfrm>
            <a:off x="6172200" y="3896162"/>
            <a:ext cx="750094" cy="194304"/>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(CHIPS)</a:t>
            </a:r>
            <a:endParaRPr lang="en-US" sz="732" dirty="0"/>
          </a:p>
        </p:txBody>
      </p:sp>
      <p:sp>
        <p:nvSpPr>
          <p:cNvPr id="16" name="Text 10"/>
          <p:cNvSpPr/>
          <p:nvPr/>
        </p:nvSpPr>
        <p:spPr>
          <a:xfrm>
            <a:off x="7529373" y="3896162"/>
            <a:ext cx="1014552" cy="194304"/>
          </a:xfrm>
          <a:prstGeom prst="rect">
            <a:avLst/>
          </a:prstGeom>
          <a:noFill/>
          <a:ln/>
        </p:spPr>
        <p:txBody>
          <a:bodyPr wrap="none" lIns="0" tIns="0" rIns="0" bIns="0" rtlCol="0" anchor="ctr">
            <a:spAutoFit/>
          </a:bodyPr>
          <a:lstStyle/>
          <a:p>
            <a:pPr indent="0" marL="0">
              <a:buNone/>
            </a:pPr>
            <a:r>
              <a:rPr lang="en-US" sz="837" dirty="0">
                <a:solidFill>
                  <a:srgbClr val="FFFFFF"/>
                </a:solidFill>
                <a:latin typeface="Noto Sans" pitchFamily="34" charset="0"/>
                <a:ea typeface="Noto Sans" pitchFamily="34" charset="-122"/>
                <a:cs typeface="Noto Sans" pitchFamily="34" charset="-120"/>
              </a:rPr>
              <a:t>Resumen ejecutivo</a:t>
            </a:r>
            <a:endParaRPr lang="en-US" sz="837" dirty="0"/>
          </a:p>
        </p:txBody>
      </p:sp>
      <p:sp>
        <p:nvSpPr>
          <p:cNvPr id="17" name="Text 11"/>
          <p:cNvSpPr/>
          <p:nvPr/>
        </p:nvSpPr>
        <p:spPr>
          <a:xfrm>
            <a:off x="6172200" y="4240485"/>
            <a:ext cx="889815" cy="194304"/>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(GRÁFICO)</a:t>
            </a:r>
            <a:endParaRPr lang="en-US" sz="732" dirty="0"/>
          </a:p>
        </p:txBody>
      </p:sp>
      <p:sp>
        <p:nvSpPr>
          <p:cNvPr id="18" name="Text 12"/>
          <p:cNvSpPr/>
          <p:nvPr/>
        </p:nvSpPr>
        <p:spPr>
          <a:xfrm>
            <a:off x="7223866" y="4240485"/>
            <a:ext cx="1320059" cy="194304"/>
          </a:xfrm>
          <a:prstGeom prst="rect">
            <a:avLst/>
          </a:prstGeom>
          <a:noFill/>
          <a:ln/>
        </p:spPr>
        <p:txBody>
          <a:bodyPr wrap="none" lIns="0" tIns="0" rIns="0" bIns="0" rtlCol="0" anchor="ctr">
            <a:spAutoFit/>
          </a:bodyPr>
          <a:lstStyle/>
          <a:p>
            <a:pPr indent="0" marL="0">
              <a:buNone/>
            </a:pPr>
            <a:r>
              <a:rPr lang="en-US" sz="837" dirty="0">
                <a:solidFill>
                  <a:srgbClr val="FFFFFF"/>
                </a:solidFill>
                <a:latin typeface="Noto Sans" pitchFamily="34" charset="0"/>
                <a:ea typeface="Noto Sans" pitchFamily="34" charset="-122"/>
                <a:cs typeface="Noto Sans" pitchFamily="34" charset="-120"/>
              </a:rPr>
              <a:t>Pasivos totales: histórico</a:t>
            </a:r>
            <a:endParaRPr lang="en-US" sz="837" dirty="0"/>
          </a:p>
        </p:txBody>
      </p:sp>
      <p:sp>
        <p:nvSpPr>
          <p:cNvPr id="19" name="Text 13"/>
          <p:cNvSpPr/>
          <p:nvPr/>
        </p:nvSpPr>
        <p:spPr>
          <a:xfrm>
            <a:off x="6172200" y="4584809"/>
            <a:ext cx="957932" cy="194304"/>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(DESGLOSE)</a:t>
            </a:r>
            <a:endParaRPr lang="en-US" sz="732" dirty="0"/>
          </a:p>
        </p:txBody>
      </p:sp>
      <p:sp>
        <p:nvSpPr>
          <p:cNvPr id="20" name="Text 14"/>
          <p:cNvSpPr/>
          <p:nvPr/>
        </p:nvSpPr>
        <p:spPr>
          <a:xfrm>
            <a:off x="7844284" y="4584809"/>
            <a:ext cx="699641" cy="194304"/>
          </a:xfrm>
          <a:prstGeom prst="rect">
            <a:avLst/>
          </a:prstGeom>
          <a:noFill/>
          <a:ln/>
        </p:spPr>
        <p:txBody>
          <a:bodyPr wrap="none" lIns="0" tIns="0" rIns="0" bIns="0" rtlCol="0" anchor="ctr">
            <a:spAutoFit/>
          </a:bodyPr>
          <a:lstStyle/>
          <a:p>
            <a:pPr indent="0" marL="0">
              <a:buNone/>
            </a:pPr>
            <a:r>
              <a:rPr lang="en-US" sz="837" dirty="0">
                <a:solidFill>
                  <a:srgbClr val="FFFFFF"/>
                </a:solidFill>
                <a:latin typeface="Noto Sans" pitchFamily="34" charset="0"/>
                <a:ea typeface="Noto Sans" pitchFamily="34" charset="-122"/>
                <a:cs typeface="Noto Sans" pitchFamily="34" charset="-120"/>
              </a:rPr>
              <a:t>Pasivos [aux]</a:t>
            </a:r>
            <a:endParaRPr lang="en-US" sz="83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793553"/>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Pasivo a Pagar</a:t>
            </a:r>
            <a:endParaRPr lang="en-US" sz="2025" dirty="0"/>
          </a:p>
        </p:txBody>
      </p:sp>
      <p:sp>
        <p:nvSpPr>
          <p:cNvPr id="4" name="Shape 1"/>
          <p:cNvSpPr/>
          <p:nvPr/>
        </p:nvSpPr>
        <p:spPr>
          <a:xfrm>
            <a:off x="428625" y="800100"/>
            <a:ext cx="571500" cy="21431"/>
          </a:xfrm>
          <a:prstGeom prst="rect">
            <a:avLst/>
          </a:prstGeom>
          <a:solidFill>
            <a:srgbClr val="00D4FF"/>
          </a:solidFill>
          <a:ln/>
        </p:spPr>
      </p:sp>
      <p:sp>
        <p:nvSpPr>
          <p:cNvPr id="5" name="Shape 2"/>
          <p:cNvSpPr/>
          <p:nvPr/>
        </p:nvSpPr>
        <p:spPr>
          <a:xfrm>
            <a:off x="428625" y="1000125"/>
            <a:ext cx="3000375" cy="1578741"/>
          </a:xfrm>
          <a:prstGeom prst="rect">
            <a:avLst/>
          </a:prstGeom>
          <a:solidFill>
            <a:srgbClr val="00D4FF">
              <a:alpha val="3000"/>
            </a:srgbClr>
          </a:solidFill>
          <a:ln w="198">
            <a:solidFill>
              <a:srgbClr val="0066FF"/>
            </a:solidFill>
            <a:prstDash val="solid"/>
          </a:ln>
        </p:spPr>
      </p:sp>
      <p:pic>
        <p:nvPicPr>
          <p:cNvPr id="6" name="Image 1" descr="preencoded.png">    </p:cNvPr>
          <p:cNvPicPr>
            <a:picLocks noChangeAspect="1"/>
          </p:cNvPicPr>
          <p:nvPr/>
        </p:nvPicPr>
        <p:blipFill>
          <a:blip r:embed="rId2"/>
          <a:stretch>
            <a:fillRect/>
          </a:stretch>
        </p:blipFill>
        <p:spPr>
          <a:xfrm>
            <a:off x="614363" y="1189434"/>
            <a:ext cx="128588" cy="128588"/>
          </a:xfrm>
          <a:prstGeom prst="rect">
            <a:avLst/>
          </a:prstGeom>
        </p:spPr>
      </p:pic>
      <p:sp>
        <p:nvSpPr>
          <p:cNvPr id="7" name="Text 3"/>
          <p:cNvSpPr/>
          <p:nvPr/>
        </p:nvSpPr>
        <p:spPr>
          <a:xfrm>
            <a:off x="814388" y="1157288"/>
            <a:ext cx="733490"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 Descripción </a:t>
            </a:r>
            <a:endParaRPr lang="en-US" sz="942" dirty="0"/>
          </a:p>
        </p:txBody>
      </p:sp>
      <p:sp>
        <p:nvSpPr>
          <p:cNvPr id="8" name="Text 4"/>
          <p:cNvSpPr/>
          <p:nvPr/>
        </p:nvSpPr>
        <p:spPr>
          <a:xfrm>
            <a:off x="614363" y="1435894"/>
            <a:ext cx="2628900" cy="971522"/>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Desglose detallado del tipo de pasivo "proveedores a pagar", donde se puede visualizar por mes las deudas pendientes, sus fechas de vencimiento y los destinatarios de los pagos. </a:t>
            </a:r>
            <a:endParaRPr lang="en-US" sz="837" dirty="0"/>
          </a:p>
        </p:txBody>
      </p:sp>
      <p:sp>
        <p:nvSpPr>
          <p:cNvPr id="9" name="Shape 5"/>
          <p:cNvSpPr/>
          <p:nvPr/>
        </p:nvSpPr>
        <p:spPr>
          <a:xfrm>
            <a:off x="428625" y="2693166"/>
            <a:ext cx="3000375" cy="1600200"/>
          </a:xfrm>
          <a:prstGeom prst="rect">
            <a:avLst/>
          </a:prstGeom>
          <a:solidFill>
            <a:srgbClr val="00D4FF">
              <a:alpha val="3000"/>
            </a:srgbClr>
          </a:solidFill>
          <a:ln w="198">
            <a:solidFill>
              <a:srgbClr val="0066FF"/>
            </a:solidFill>
            <a:prstDash val="solid"/>
          </a:ln>
        </p:spPr>
      </p:sp>
      <p:pic>
        <p:nvPicPr>
          <p:cNvPr id="10" name="Image 2" descr="preencoded.png">    </p:cNvPr>
          <p:cNvPicPr>
            <a:picLocks noChangeAspect="1"/>
          </p:cNvPicPr>
          <p:nvPr/>
        </p:nvPicPr>
        <p:blipFill>
          <a:blip r:embed="rId3"/>
          <a:stretch>
            <a:fillRect/>
          </a:stretch>
        </p:blipFill>
        <p:spPr>
          <a:xfrm>
            <a:off x="614363" y="2882475"/>
            <a:ext cx="128588" cy="128588"/>
          </a:xfrm>
          <a:prstGeom prst="rect">
            <a:avLst/>
          </a:prstGeom>
        </p:spPr>
      </p:pic>
      <p:sp>
        <p:nvSpPr>
          <p:cNvPr id="11" name="Text 6"/>
          <p:cNvSpPr/>
          <p:nvPr/>
        </p:nvSpPr>
        <p:spPr>
          <a:xfrm>
            <a:off x="814388" y="2850328"/>
            <a:ext cx="391037"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 Filtros </a:t>
            </a:r>
            <a:endParaRPr lang="en-US" sz="942" dirty="0"/>
          </a:p>
        </p:txBody>
      </p:sp>
      <p:sp>
        <p:nvSpPr>
          <p:cNvPr id="12" name="Shape 7"/>
          <p:cNvSpPr/>
          <p:nvPr/>
        </p:nvSpPr>
        <p:spPr>
          <a:xfrm>
            <a:off x="614363" y="3128935"/>
            <a:ext cx="2628900" cy="542925"/>
          </a:xfrm>
          <a:prstGeom prst="rect">
            <a:avLst/>
          </a:prstGeom>
          <a:solidFill>
            <a:srgbClr val="0066FF">
              <a:alpha val="15000"/>
            </a:srgbClr>
          </a:solidFill>
          <a:ln/>
        </p:spPr>
      </p:sp>
      <p:sp>
        <p:nvSpPr>
          <p:cNvPr id="13" name="Shape 8"/>
          <p:cNvSpPr/>
          <p:nvPr/>
        </p:nvSpPr>
        <p:spPr>
          <a:xfrm>
            <a:off x="614363" y="3128935"/>
            <a:ext cx="21431" cy="542925"/>
          </a:xfrm>
          <a:prstGeom prst="rect">
            <a:avLst/>
          </a:prstGeom>
          <a:solidFill>
            <a:srgbClr val="00D4FF"/>
          </a:solidFill>
          <a:ln/>
        </p:spPr>
      </p:sp>
      <p:sp>
        <p:nvSpPr>
          <p:cNvPr id="14" name="Text 9"/>
          <p:cNvSpPr/>
          <p:nvPr/>
        </p:nvSpPr>
        <p:spPr>
          <a:xfrm>
            <a:off x="742950" y="3241449"/>
            <a:ext cx="935273" cy="146447"/>
          </a:xfrm>
          <a:prstGeom prst="rect">
            <a:avLst/>
          </a:prstGeom>
          <a:noFill/>
          <a:ln/>
        </p:spPr>
        <p:txBody>
          <a:bodyPr wrap="none" lIns="0" tIns="0" rIns="0" bIns="0" rtlCol="0" anchor="ctr">
            <a:spAutoFit/>
          </a:bodyPr>
          <a:lstStyle/>
          <a:p>
            <a:pPr indent="0" marL="0">
              <a:buNone/>
            </a:pPr>
            <a:r>
              <a:rPr lang="en-US" sz="785" b="1" dirty="0">
                <a:solidFill>
                  <a:srgbClr val="E8E8E8"/>
                </a:solidFill>
                <a:latin typeface="Noto Sans" pitchFamily="34" charset="0"/>
                <a:ea typeface="Noto Sans" pitchFamily="34" charset="-122"/>
                <a:cs typeface="Noto Sans" pitchFamily="34" charset="-120"/>
              </a:rPr>
              <a:t>Nota importante:</a:t>
            </a:r>
            <a:endParaRPr lang="en-US" sz="785" dirty="0"/>
          </a:p>
        </p:txBody>
      </p:sp>
      <p:sp>
        <p:nvSpPr>
          <p:cNvPr id="15" name="Text 10"/>
          <p:cNvSpPr/>
          <p:nvPr/>
        </p:nvSpPr>
        <p:spPr>
          <a:xfrm>
            <a:off x="1678223" y="3241449"/>
            <a:ext cx="1307111" cy="146447"/>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 Debido al cruce de bases </a:t>
            </a:r>
            <a:endParaRPr lang="en-US" sz="785" dirty="0"/>
          </a:p>
        </p:txBody>
      </p:sp>
      <p:sp>
        <p:nvSpPr>
          <p:cNvPr id="16" name="Text 11"/>
          <p:cNvSpPr/>
          <p:nvPr/>
        </p:nvSpPr>
        <p:spPr>
          <a:xfrm>
            <a:off x="742950" y="3241449"/>
            <a:ext cx="2368739" cy="317897"/>
          </a:xfrm>
          <a:prstGeom prst="rect">
            <a:avLst/>
          </a:prstGeom>
          <a:noFill/>
          <a:ln/>
        </p:spPr>
        <p:txBody>
          <a:bodyPr wrap="squar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de datos, existen dos sets de filtros diferentes. </a:t>
            </a:r>
            <a:endParaRPr lang="en-US" sz="785" dirty="0"/>
          </a:p>
        </p:txBody>
      </p:sp>
      <p:sp>
        <p:nvSpPr>
          <p:cNvPr id="17" name="Text 12"/>
          <p:cNvSpPr/>
          <p:nvPr/>
        </p:nvSpPr>
        <p:spPr>
          <a:xfrm>
            <a:off x="614363" y="3737939"/>
            <a:ext cx="571500"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Para chip:</a:t>
            </a:r>
            <a:endParaRPr lang="en-US" sz="732" dirty="0"/>
          </a:p>
        </p:txBody>
      </p:sp>
      <p:sp>
        <p:nvSpPr>
          <p:cNvPr id="18" name="Text 13"/>
          <p:cNvSpPr/>
          <p:nvPr/>
        </p:nvSpPr>
        <p:spPr>
          <a:xfrm>
            <a:off x="1243013" y="3729010"/>
            <a:ext cx="208955" cy="160734"/>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Mes</a:t>
            </a:r>
            <a:endParaRPr lang="en-US" sz="785" dirty="0"/>
          </a:p>
        </p:txBody>
      </p:sp>
      <p:sp>
        <p:nvSpPr>
          <p:cNvPr id="19" name="Text 14"/>
          <p:cNvSpPr/>
          <p:nvPr/>
        </p:nvSpPr>
        <p:spPr>
          <a:xfrm>
            <a:off x="614363" y="3970111"/>
            <a:ext cx="571500"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Para lista:</a:t>
            </a:r>
            <a:endParaRPr lang="en-US" sz="732" dirty="0"/>
          </a:p>
        </p:txBody>
      </p:sp>
      <p:sp>
        <p:nvSpPr>
          <p:cNvPr id="20" name="Text 15"/>
          <p:cNvSpPr/>
          <p:nvPr/>
        </p:nvSpPr>
        <p:spPr>
          <a:xfrm>
            <a:off x="1243013" y="3961181"/>
            <a:ext cx="1969554" cy="160734"/>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Año, Mes_corte, Estado de vencimiento</a:t>
            </a:r>
            <a:endParaRPr lang="en-US" sz="785" dirty="0"/>
          </a:p>
        </p:txBody>
      </p:sp>
      <p:sp>
        <p:nvSpPr>
          <p:cNvPr id="21" name="Shape 16"/>
          <p:cNvSpPr/>
          <p:nvPr/>
        </p:nvSpPr>
        <p:spPr>
          <a:xfrm>
            <a:off x="428625" y="4407666"/>
            <a:ext cx="3000375" cy="1000125"/>
          </a:xfrm>
          <a:prstGeom prst="rect">
            <a:avLst/>
          </a:prstGeom>
          <a:solidFill>
            <a:srgbClr val="00D4FF">
              <a:alpha val="3000"/>
            </a:srgbClr>
          </a:solidFill>
          <a:ln w="198">
            <a:solidFill>
              <a:srgbClr val="0066FF"/>
            </a:solidFill>
            <a:prstDash val="solid"/>
          </a:ln>
        </p:spPr>
      </p:sp>
      <p:pic>
        <p:nvPicPr>
          <p:cNvPr id="22" name="Image 3" descr="preencoded.png">    </p:cNvPr>
          <p:cNvPicPr>
            <a:picLocks noChangeAspect="1"/>
          </p:cNvPicPr>
          <p:nvPr/>
        </p:nvPicPr>
        <p:blipFill>
          <a:blip r:embed="rId4"/>
          <a:stretch>
            <a:fillRect/>
          </a:stretch>
        </p:blipFill>
        <p:spPr>
          <a:xfrm>
            <a:off x="614363" y="4596975"/>
            <a:ext cx="112514" cy="128588"/>
          </a:xfrm>
          <a:prstGeom prst="rect">
            <a:avLst/>
          </a:prstGeom>
        </p:spPr>
      </p:pic>
      <p:sp>
        <p:nvSpPr>
          <p:cNvPr id="23" name="Text 17"/>
          <p:cNvSpPr/>
          <p:nvPr/>
        </p:nvSpPr>
        <p:spPr>
          <a:xfrm>
            <a:off x="798314" y="4564828"/>
            <a:ext cx="1085431"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 Fuentes de Datos </a:t>
            </a:r>
            <a:endParaRPr lang="en-US" sz="942" dirty="0"/>
          </a:p>
        </p:txBody>
      </p:sp>
      <p:sp>
        <p:nvSpPr>
          <p:cNvPr id="24" name="Text 18"/>
          <p:cNvSpPr/>
          <p:nvPr/>
        </p:nvSpPr>
        <p:spPr>
          <a:xfrm>
            <a:off x="614363" y="4852364"/>
            <a:ext cx="571500"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Chip:</a:t>
            </a:r>
            <a:endParaRPr lang="en-US" sz="732" dirty="0"/>
          </a:p>
        </p:txBody>
      </p:sp>
      <p:sp>
        <p:nvSpPr>
          <p:cNvPr id="25" name="Text 19"/>
          <p:cNvSpPr/>
          <p:nvPr/>
        </p:nvSpPr>
        <p:spPr>
          <a:xfrm>
            <a:off x="1243013" y="4843435"/>
            <a:ext cx="951123" cy="160734"/>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Resumen ejecutivo</a:t>
            </a:r>
            <a:endParaRPr lang="en-US" sz="785" dirty="0"/>
          </a:p>
        </p:txBody>
      </p:sp>
      <p:sp>
        <p:nvSpPr>
          <p:cNvPr id="26" name="Text 20"/>
          <p:cNvSpPr/>
          <p:nvPr/>
        </p:nvSpPr>
        <p:spPr>
          <a:xfrm>
            <a:off x="614363" y="5084536"/>
            <a:ext cx="571500"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Lista:</a:t>
            </a:r>
            <a:endParaRPr lang="en-US" sz="732" dirty="0"/>
          </a:p>
        </p:txBody>
      </p:sp>
      <p:sp>
        <p:nvSpPr>
          <p:cNvPr id="27" name="Text 21"/>
          <p:cNvSpPr/>
          <p:nvPr/>
        </p:nvSpPr>
        <p:spPr>
          <a:xfrm>
            <a:off x="1243013" y="5075606"/>
            <a:ext cx="374517" cy="160734"/>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Pasivos</a:t>
            </a:r>
            <a:endParaRPr lang="en-US" sz="785" dirty="0"/>
          </a:p>
        </p:txBody>
      </p:sp>
      <p:pic>
        <p:nvPicPr>
          <p:cNvPr id="28" name="Image 4" descr="preencoded.png">    </p:cNvPr>
          <p:cNvPicPr>
            <a:picLocks noChangeAspect="1"/>
          </p:cNvPicPr>
          <p:nvPr/>
        </p:nvPicPr>
        <p:blipFill>
          <a:blip r:embed="rId5"/>
          <a:stretch>
            <a:fillRect/>
          </a:stretch>
        </p:blipFill>
        <p:spPr>
          <a:xfrm>
            <a:off x="3679031" y="1000125"/>
            <a:ext cx="5036344" cy="41433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919992"/>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Cashflow</a:t>
            </a:r>
            <a:endParaRPr lang="en-US" sz="2025" dirty="0"/>
          </a:p>
        </p:txBody>
      </p:sp>
      <p:sp>
        <p:nvSpPr>
          <p:cNvPr id="4" name="Shape 1"/>
          <p:cNvSpPr/>
          <p:nvPr/>
        </p:nvSpPr>
        <p:spPr>
          <a:xfrm>
            <a:off x="428625" y="800100"/>
            <a:ext cx="571500" cy="21431"/>
          </a:xfrm>
          <a:prstGeom prst="rect">
            <a:avLst/>
          </a:prstGeom>
          <a:solidFill>
            <a:srgbClr val="00D4FF"/>
          </a:solidFill>
          <a:ln/>
        </p:spPr>
      </p:sp>
      <p:sp>
        <p:nvSpPr>
          <p:cNvPr id="5" name="Shape 2"/>
          <p:cNvSpPr/>
          <p:nvPr/>
        </p:nvSpPr>
        <p:spPr>
          <a:xfrm>
            <a:off x="428625" y="1000125"/>
            <a:ext cx="2428875" cy="1564453"/>
          </a:xfrm>
          <a:prstGeom prst="rect">
            <a:avLst/>
          </a:prstGeom>
          <a:solidFill>
            <a:srgbClr val="00D4FF">
              <a:alpha val="5000"/>
            </a:srgbClr>
          </a:solidFill>
          <a:ln/>
        </p:spPr>
      </p:sp>
      <p:pic>
        <p:nvPicPr>
          <p:cNvPr id="6" name="Image 1" descr="preencoded.png">    </p:cNvPr>
          <p:cNvPicPr>
            <a:picLocks noChangeAspect="1"/>
          </p:cNvPicPr>
          <p:nvPr/>
        </p:nvPicPr>
        <p:blipFill>
          <a:blip r:embed="rId2"/>
          <a:stretch>
            <a:fillRect/>
          </a:stretch>
        </p:blipFill>
        <p:spPr>
          <a:xfrm>
            <a:off x="585788" y="1189434"/>
            <a:ext cx="128588" cy="128588"/>
          </a:xfrm>
          <a:prstGeom prst="rect">
            <a:avLst/>
          </a:prstGeom>
        </p:spPr>
      </p:pic>
      <p:sp>
        <p:nvSpPr>
          <p:cNvPr id="7" name="Text 3"/>
          <p:cNvSpPr/>
          <p:nvPr/>
        </p:nvSpPr>
        <p:spPr>
          <a:xfrm>
            <a:off x="771525" y="1157288"/>
            <a:ext cx="733490"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 Descripción </a:t>
            </a:r>
            <a:endParaRPr lang="en-US" sz="942" dirty="0"/>
          </a:p>
        </p:txBody>
      </p:sp>
      <p:sp>
        <p:nvSpPr>
          <p:cNvPr id="8" name="Text 4"/>
          <p:cNvSpPr/>
          <p:nvPr/>
        </p:nvSpPr>
        <p:spPr>
          <a:xfrm>
            <a:off x="585788" y="1435894"/>
            <a:ext cx="2114550" cy="971522"/>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Muestra los ingresos y egresos históricos con desglose detallado de movimientos y saldos de las cuentas bancarias: Santander, Bank of America y caja. </a:t>
            </a:r>
            <a:endParaRPr lang="en-US" sz="837" dirty="0"/>
          </a:p>
        </p:txBody>
      </p:sp>
      <p:sp>
        <p:nvSpPr>
          <p:cNvPr id="9" name="Shape 5"/>
          <p:cNvSpPr/>
          <p:nvPr/>
        </p:nvSpPr>
        <p:spPr>
          <a:xfrm>
            <a:off x="428625" y="2707453"/>
            <a:ext cx="2428875" cy="1925241"/>
          </a:xfrm>
          <a:prstGeom prst="rect">
            <a:avLst/>
          </a:prstGeom>
          <a:solidFill>
            <a:srgbClr val="00D4FF">
              <a:alpha val="5000"/>
            </a:srgbClr>
          </a:solidFill>
          <a:ln/>
        </p:spPr>
      </p:sp>
      <p:pic>
        <p:nvPicPr>
          <p:cNvPr id="10" name="Image 2" descr="preencoded.png">    </p:cNvPr>
          <p:cNvPicPr>
            <a:picLocks noChangeAspect="1"/>
          </p:cNvPicPr>
          <p:nvPr/>
        </p:nvPicPr>
        <p:blipFill>
          <a:blip r:embed="rId3"/>
          <a:stretch>
            <a:fillRect/>
          </a:stretch>
        </p:blipFill>
        <p:spPr>
          <a:xfrm>
            <a:off x="585788" y="2896763"/>
            <a:ext cx="128588" cy="128588"/>
          </a:xfrm>
          <a:prstGeom prst="rect">
            <a:avLst/>
          </a:prstGeom>
        </p:spPr>
      </p:pic>
      <p:sp>
        <p:nvSpPr>
          <p:cNvPr id="11" name="Text 6"/>
          <p:cNvSpPr/>
          <p:nvPr/>
        </p:nvSpPr>
        <p:spPr>
          <a:xfrm>
            <a:off x="771525" y="2864616"/>
            <a:ext cx="1153046"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 Filtros Disponibles </a:t>
            </a:r>
            <a:endParaRPr lang="en-US" sz="942" dirty="0"/>
          </a:p>
        </p:txBody>
      </p:sp>
      <p:sp>
        <p:nvSpPr>
          <p:cNvPr id="12" name="Text 7"/>
          <p:cNvSpPr/>
          <p:nvPr/>
        </p:nvSpPr>
        <p:spPr>
          <a:xfrm>
            <a:off x="585788" y="3200372"/>
            <a:ext cx="2114550" cy="150019"/>
          </a:xfrm>
          <a:prstGeom prst="rect">
            <a:avLst/>
          </a:prstGeom>
          <a:noFill/>
          <a:ln/>
        </p:spPr>
        <p:txBody>
          <a:bodyPr wrap="none" lIns="0" tIns="0" rIns="0" bIns="0" rtlCol="0" anchor="ctr">
            <a:spAutoFit/>
          </a:bodyPr>
          <a:lstStyle/>
          <a:p>
            <a:pPr algn="l" indent="0" marL="0">
              <a:buNone/>
            </a:pPr>
            <a:r>
              <a:rPr lang="en-US" sz="732" b="1" dirty="0">
                <a:solidFill>
                  <a:srgbClr val="0066FF"/>
                </a:solidFill>
                <a:latin typeface="Noto Sans" pitchFamily="34" charset="0"/>
                <a:ea typeface="Noto Sans" pitchFamily="34" charset="-122"/>
                <a:cs typeface="Noto Sans" pitchFamily="34" charset="-120"/>
              </a:rPr>
              <a:t>Mes y Año</a:t>
            </a:r>
            <a:endParaRPr lang="en-US" sz="732" dirty="0"/>
          </a:p>
        </p:txBody>
      </p:sp>
      <p:sp>
        <p:nvSpPr>
          <p:cNvPr id="13" name="Text 8"/>
          <p:cNvSpPr/>
          <p:nvPr/>
        </p:nvSpPr>
        <p:spPr>
          <a:xfrm>
            <a:off x="585788" y="3364678"/>
            <a:ext cx="2114550" cy="160734"/>
          </a:xfrm>
          <a:prstGeom prst="rect">
            <a:avLst/>
          </a:prstGeom>
          <a:noFill/>
          <a:ln/>
        </p:spPr>
        <p:txBody>
          <a:bodyPr wrap="none" lIns="0" tIns="0" rIns="0" bIns="0"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Mes_corte_cashflow</a:t>
            </a:r>
            <a:endParaRPr lang="en-US" sz="785" dirty="0"/>
          </a:p>
        </p:txBody>
      </p:sp>
      <p:sp>
        <p:nvSpPr>
          <p:cNvPr id="14" name="Text 9"/>
          <p:cNvSpPr/>
          <p:nvPr/>
        </p:nvSpPr>
        <p:spPr>
          <a:xfrm>
            <a:off x="585788" y="3646856"/>
            <a:ext cx="2114550" cy="150019"/>
          </a:xfrm>
          <a:prstGeom prst="rect">
            <a:avLst/>
          </a:prstGeom>
          <a:noFill/>
          <a:ln/>
        </p:spPr>
        <p:txBody>
          <a:bodyPr wrap="none" lIns="0" tIns="0" rIns="0" bIns="0" rtlCol="0" anchor="ctr">
            <a:spAutoFit/>
          </a:bodyPr>
          <a:lstStyle/>
          <a:p>
            <a:pPr algn="l" indent="0" marL="0">
              <a:buNone/>
            </a:pPr>
            <a:r>
              <a:rPr lang="en-US" sz="732" b="1" dirty="0">
                <a:solidFill>
                  <a:srgbClr val="0066FF"/>
                </a:solidFill>
                <a:latin typeface="Noto Sans" pitchFamily="34" charset="0"/>
                <a:ea typeface="Noto Sans" pitchFamily="34" charset="-122"/>
                <a:cs typeface="Noto Sans" pitchFamily="34" charset="-120"/>
              </a:rPr>
              <a:t>Tipo de Movimiento</a:t>
            </a:r>
            <a:endParaRPr lang="en-US" sz="732" dirty="0"/>
          </a:p>
        </p:txBody>
      </p:sp>
      <p:sp>
        <p:nvSpPr>
          <p:cNvPr id="15" name="Text 10"/>
          <p:cNvSpPr/>
          <p:nvPr/>
        </p:nvSpPr>
        <p:spPr>
          <a:xfrm>
            <a:off x="585788" y="3811163"/>
            <a:ext cx="2114550" cy="160734"/>
          </a:xfrm>
          <a:prstGeom prst="rect">
            <a:avLst/>
          </a:prstGeom>
          <a:noFill/>
          <a:ln/>
        </p:spPr>
        <p:txBody>
          <a:bodyPr wrap="none" lIns="0" tIns="0" rIns="0" bIns="0"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Ingreso / Egreso</a:t>
            </a:r>
            <a:endParaRPr lang="en-US" sz="785" dirty="0"/>
          </a:p>
        </p:txBody>
      </p:sp>
      <p:sp>
        <p:nvSpPr>
          <p:cNvPr id="16" name="Text 11"/>
          <p:cNvSpPr/>
          <p:nvPr/>
        </p:nvSpPr>
        <p:spPr>
          <a:xfrm>
            <a:off x="585788" y="4093341"/>
            <a:ext cx="2114550" cy="150019"/>
          </a:xfrm>
          <a:prstGeom prst="rect">
            <a:avLst/>
          </a:prstGeom>
          <a:noFill/>
          <a:ln/>
        </p:spPr>
        <p:txBody>
          <a:bodyPr wrap="none" lIns="0" tIns="0" rIns="0" bIns="0" rtlCol="0" anchor="ctr">
            <a:spAutoFit/>
          </a:bodyPr>
          <a:lstStyle/>
          <a:p>
            <a:pPr algn="l" indent="0" marL="0">
              <a:buNone/>
            </a:pPr>
            <a:r>
              <a:rPr lang="en-US" sz="732" b="1" dirty="0">
                <a:solidFill>
                  <a:srgbClr val="0066FF"/>
                </a:solidFill>
                <a:latin typeface="Noto Sans" pitchFamily="34" charset="0"/>
                <a:ea typeface="Noto Sans" pitchFamily="34" charset="-122"/>
                <a:cs typeface="Noto Sans" pitchFamily="34" charset="-120"/>
              </a:rPr>
              <a:t>Banco</a:t>
            </a:r>
            <a:endParaRPr lang="en-US" sz="732" dirty="0"/>
          </a:p>
        </p:txBody>
      </p:sp>
      <p:sp>
        <p:nvSpPr>
          <p:cNvPr id="17" name="Text 12"/>
          <p:cNvSpPr/>
          <p:nvPr/>
        </p:nvSpPr>
        <p:spPr>
          <a:xfrm>
            <a:off x="585788" y="4257647"/>
            <a:ext cx="2114550" cy="160734"/>
          </a:xfrm>
          <a:prstGeom prst="rect">
            <a:avLst/>
          </a:prstGeom>
          <a:noFill/>
          <a:ln/>
        </p:spPr>
        <p:txBody>
          <a:bodyPr wrap="none" lIns="0" tIns="0" rIns="0" bIns="0"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Santander, Bank of America, Caja</a:t>
            </a:r>
            <a:endParaRPr lang="en-US" sz="785" dirty="0"/>
          </a:p>
        </p:txBody>
      </p:sp>
      <p:sp>
        <p:nvSpPr>
          <p:cNvPr id="18" name="Shape 13"/>
          <p:cNvSpPr/>
          <p:nvPr/>
        </p:nvSpPr>
        <p:spPr>
          <a:xfrm>
            <a:off x="428625" y="4775569"/>
            <a:ext cx="2428875" cy="787236"/>
          </a:xfrm>
          <a:prstGeom prst="rect">
            <a:avLst/>
          </a:prstGeom>
          <a:solidFill>
            <a:srgbClr val="00D4FF">
              <a:alpha val="5000"/>
            </a:srgbClr>
          </a:solidFill>
          <a:ln/>
        </p:spPr>
      </p:sp>
      <p:pic>
        <p:nvPicPr>
          <p:cNvPr id="19" name="Image 3" descr="preencoded.png">    </p:cNvPr>
          <p:cNvPicPr>
            <a:picLocks noChangeAspect="1"/>
          </p:cNvPicPr>
          <p:nvPr/>
        </p:nvPicPr>
        <p:blipFill>
          <a:blip r:embed="rId4"/>
          <a:stretch>
            <a:fillRect/>
          </a:stretch>
        </p:blipFill>
        <p:spPr>
          <a:xfrm>
            <a:off x="585788" y="4964878"/>
            <a:ext cx="112514" cy="128588"/>
          </a:xfrm>
          <a:prstGeom prst="rect">
            <a:avLst/>
          </a:prstGeom>
        </p:spPr>
      </p:pic>
      <p:sp>
        <p:nvSpPr>
          <p:cNvPr id="20" name="Text 14"/>
          <p:cNvSpPr/>
          <p:nvPr/>
        </p:nvSpPr>
        <p:spPr>
          <a:xfrm>
            <a:off x="755452" y="4932731"/>
            <a:ext cx="1022421"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 Fuente de Datos </a:t>
            </a:r>
            <a:endParaRPr lang="en-US" sz="942" dirty="0"/>
          </a:p>
        </p:txBody>
      </p:sp>
      <p:sp>
        <p:nvSpPr>
          <p:cNvPr id="21" name="Text 15"/>
          <p:cNvSpPr/>
          <p:nvPr/>
        </p:nvSpPr>
        <p:spPr>
          <a:xfrm>
            <a:off x="585788" y="5211338"/>
            <a:ext cx="2114550" cy="194304"/>
          </a:xfrm>
          <a:prstGeom prst="rect">
            <a:avLst/>
          </a:prstGeom>
          <a:noFill/>
          <a:ln/>
        </p:spPr>
        <p:txBody>
          <a:bodyPr wrap="non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Cashflow </a:t>
            </a:r>
            <a:endParaRPr lang="en-US" sz="837" dirty="0"/>
          </a:p>
        </p:txBody>
      </p:sp>
      <p:sp>
        <p:nvSpPr>
          <p:cNvPr id="22" name="Shape 16"/>
          <p:cNvSpPr/>
          <p:nvPr/>
        </p:nvSpPr>
        <p:spPr>
          <a:xfrm>
            <a:off x="3071813" y="1000125"/>
            <a:ext cx="5643563" cy="4143375"/>
          </a:xfrm>
          <a:prstGeom prst="rect">
            <a:avLst/>
          </a:prstGeom>
          <a:solidFill>
            <a:srgbClr val="000000">
              <a:alpha val="20000"/>
            </a:srgbClr>
          </a:solidFill>
          <a:ln w="99">
            <a:solidFill>
              <a:srgbClr val="0066FF">
                <a:alpha val="25000"/>
              </a:srgbClr>
            </a:solidFill>
            <a:prstDash val="solid"/>
          </a:ln>
        </p:spPr>
      </p:sp>
      <p:pic>
        <p:nvPicPr>
          <p:cNvPr id="23" name="Image 4" descr="preencoded.png">    </p:cNvPr>
          <p:cNvPicPr>
            <a:picLocks noChangeAspect="1"/>
          </p:cNvPicPr>
          <p:nvPr/>
        </p:nvPicPr>
        <p:blipFill>
          <a:blip r:embed="rId5"/>
          <a:stretch>
            <a:fillRect/>
          </a:stretch>
        </p:blipFill>
        <p:spPr>
          <a:xfrm>
            <a:off x="3071813" y="1000125"/>
            <a:ext cx="5643563" cy="41433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139272"/>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Proyección</a:t>
            </a:r>
            <a:endParaRPr lang="en-US" sz="2025" dirty="0"/>
          </a:p>
        </p:txBody>
      </p:sp>
      <p:sp>
        <p:nvSpPr>
          <p:cNvPr id="4" name="Shape 1"/>
          <p:cNvSpPr/>
          <p:nvPr/>
        </p:nvSpPr>
        <p:spPr>
          <a:xfrm>
            <a:off x="428625" y="800100"/>
            <a:ext cx="571500" cy="21431"/>
          </a:xfrm>
          <a:prstGeom prst="rect">
            <a:avLst/>
          </a:prstGeom>
          <a:solidFill>
            <a:srgbClr val="00D4FF"/>
          </a:solidFill>
          <a:ln/>
        </p:spPr>
      </p:sp>
      <p:sp>
        <p:nvSpPr>
          <p:cNvPr id="5" name="Shape 2"/>
          <p:cNvSpPr/>
          <p:nvPr/>
        </p:nvSpPr>
        <p:spPr>
          <a:xfrm>
            <a:off x="428625" y="1000125"/>
            <a:ext cx="3000375" cy="1837339"/>
          </a:xfrm>
          <a:prstGeom prst="rect">
            <a:avLst/>
          </a:prstGeom>
          <a:solidFill>
            <a:srgbClr val="00D4FF">
              <a:alpha val="5000"/>
            </a:srgbClr>
          </a:solidFill>
          <a:ln w="198">
            <a:solidFill>
              <a:srgbClr val="0066FF"/>
            </a:solidFill>
            <a:prstDash val="solid"/>
          </a:ln>
        </p:spPr>
      </p:sp>
      <p:pic>
        <p:nvPicPr>
          <p:cNvPr id="6" name="Image 1" descr="preencoded.png">    </p:cNvPr>
          <p:cNvPicPr>
            <a:picLocks noChangeAspect="1"/>
          </p:cNvPicPr>
          <p:nvPr/>
        </p:nvPicPr>
        <p:blipFill>
          <a:blip r:embed="rId2"/>
          <a:stretch>
            <a:fillRect/>
          </a:stretch>
        </p:blipFill>
        <p:spPr>
          <a:xfrm>
            <a:off x="600075" y="1207294"/>
            <a:ext cx="142875" cy="142875"/>
          </a:xfrm>
          <a:prstGeom prst="rect">
            <a:avLst/>
          </a:prstGeom>
        </p:spPr>
      </p:pic>
      <p:sp>
        <p:nvSpPr>
          <p:cNvPr id="7" name="Text 3"/>
          <p:cNvSpPr/>
          <p:nvPr/>
        </p:nvSpPr>
        <p:spPr>
          <a:xfrm>
            <a:off x="814388" y="1171575"/>
            <a:ext cx="799681" cy="214313"/>
          </a:xfrm>
          <a:prstGeom prst="rect">
            <a:avLst/>
          </a:prstGeom>
          <a:noFill/>
          <a:ln/>
        </p:spPr>
        <p:txBody>
          <a:bodyPr wrap="none" lIns="0" tIns="0" rIns="0" bIns="0" rtlCol="0" anchor="ctr">
            <a:spAutoFit/>
          </a:bodyPr>
          <a:lstStyle/>
          <a:p>
            <a:pPr indent="0" marL="0">
              <a:buNone/>
            </a:pPr>
            <a:r>
              <a:rPr lang="en-US" sz="1046" b="1" dirty="0">
                <a:solidFill>
                  <a:srgbClr val="FFFFFF"/>
                </a:solidFill>
                <a:latin typeface="Noto Sans" pitchFamily="34" charset="0"/>
                <a:ea typeface="Noto Sans" pitchFamily="34" charset="-122"/>
                <a:cs typeface="Noto Sans" pitchFamily="34" charset="-120"/>
              </a:rPr>
              <a:t> Descripción </a:t>
            </a:r>
            <a:endParaRPr lang="en-US" sz="1046" dirty="0"/>
          </a:p>
        </p:txBody>
      </p:sp>
      <p:sp>
        <p:nvSpPr>
          <p:cNvPr id="8" name="Text 4"/>
          <p:cNvSpPr/>
          <p:nvPr/>
        </p:nvSpPr>
        <p:spPr>
          <a:xfrm>
            <a:off x="600075" y="1485900"/>
            <a:ext cx="2657475" cy="1165827"/>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Panorama general de la facturación y los costos tanto YTD (Year to Date) como las proyecciones futuras. Los costos se visualizan excluyendo IVA y excluyendo cualquier tipo de impuesto e intereses, proporcionando una visión clara del desempeño operativo. </a:t>
            </a:r>
            <a:endParaRPr lang="en-US" sz="837" dirty="0"/>
          </a:p>
        </p:txBody>
      </p:sp>
      <p:sp>
        <p:nvSpPr>
          <p:cNvPr id="9" name="Shape 5"/>
          <p:cNvSpPr/>
          <p:nvPr/>
        </p:nvSpPr>
        <p:spPr>
          <a:xfrm>
            <a:off x="428625" y="2966052"/>
            <a:ext cx="3000375" cy="1950244"/>
          </a:xfrm>
          <a:prstGeom prst="rect">
            <a:avLst/>
          </a:prstGeom>
          <a:solidFill>
            <a:srgbClr val="00D4FF">
              <a:alpha val="5000"/>
            </a:srgbClr>
          </a:solidFill>
          <a:ln w="198">
            <a:solidFill>
              <a:srgbClr val="0066FF"/>
            </a:solidFill>
            <a:prstDash val="solid"/>
          </a:ln>
        </p:spPr>
      </p:sp>
      <p:pic>
        <p:nvPicPr>
          <p:cNvPr id="10" name="Image 2" descr="preencoded.png">    </p:cNvPr>
          <p:cNvPicPr>
            <a:picLocks noChangeAspect="1"/>
          </p:cNvPicPr>
          <p:nvPr/>
        </p:nvPicPr>
        <p:blipFill>
          <a:blip r:embed="rId3"/>
          <a:stretch>
            <a:fillRect/>
          </a:stretch>
        </p:blipFill>
        <p:spPr>
          <a:xfrm>
            <a:off x="600075" y="3173220"/>
            <a:ext cx="142875" cy="142875"/>
          </a:xfrm>
          <a:prstGeom prst="rect">
            <a:avLst/>
          </a:prstGeom>
        </p:spPr>
      </p:pic>
      <p:sp>
        <p:nvSpPr>
          <p:cNvPr id="11" name="Text 6"/>
          <p:cNvSpPr/>
          <p:nvPr/>
        </p:nvSpPr>
        <p:spPr>
          <a:xfrm>
            <a:off x="814388" y="3137502"/>
            <a:ext cx="961699" cy="214313"/>
          </a:xfrm>
          <a:prstGeom prst="rect">
            <a:avLst/>
          </a:prstGeom>
          <a:noFill/>
          <a:ln/>
        </p:spPr>
        <p:txBody>
          <a:bodyPr wrap="none" lIns="0" tIns="0" rIns="0" bIns="0" rtlCol="0" anchor="ctr">
            <a:spAutoFit/>
          </a:bodyPr>
          <a:lstStyle/>
          <a:p>
            <a:pPr indent="0" marL="0">
              <a:buNone/>
            </a:pPr>
            <a:r>
              <a:rPr lang="en-US" sz="1046" b="1" dirty="0">
                <a:solidFill>
                  <a:srgbClr val="FFFFFF"/>
                </a:solidFill>
                <a:latin typeface="Noto Sans" pitchFamily="34" charset="0"/>
                <a:ea typeface="Noto Sans" pitchFamily="34" charset="-122"/>
                <a:cs typeface="Noto Sans" pitchFamily="34" charset="-120"/>
              </a:rPr>
              <a:t> Configuración </a:t>
            </a:r>
            <a:endParaRPr lang="en-US" sz="1046" dirty="0"/>
          </a:p>
        </p:txBody>
      </p:sp>
      <p:sp>
        <p:nvSpPr>
          <p:cNvPr id="12" name="Text 7"/>
          <p:cNvSpPr/>
          <p:nvPr/>
        </p:nvSpPr>
        <p:spPr>
          <a:xfrm>
            <a:off x="600075" y="3508977"/>
            <a:ext cx="857250"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Filtros:</a:t>
            </a:r>
            <a:endParaRPr lang="en-US" sz="732" dirty="0"/>
          </a:p>
        </p:txBody>
      </p:sp>
      <p:sp>
        <p:nvSpPr>
          <p:cNvPr id="13" name="Text 8"/>
          <p:cNvSpPr/>
          <p:nvPr/>
        </p:nvSpPr>
        <p:spPr>
          <a:xfrm>
            <a:off x="1457325" y="3508977"/>
            <a:ext cx="1800225" cy="150019"/>
          </a:xfrm>
          <a:prstGeom prst="rect">
            <a:avLst/>
          </a:prstGeom>
          <a:noFill/>
          <a:ln/>
        </p:spPr>
        <p:txBody>
          <a:bodyPr wrap="non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Mes, Año</a:t>
            </a:r>
            <a:endParaRPr lang="en-US" sz="732" dirty="0"/>
          </a:p>
        </p:txBody>
      </p:sp>
      <p:sp>
        <p:nvSpPr>
          <p:cNvPr id="14" name="Text 9"/>
          <p:cNvSpPr/>
          <p:nvPr/>
        </p:nvSpPr>
        <p:spPr>
          <a:xfrm>
            <a:off x="600075" y="3866164"/>
            <a:ext cx="857250"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a:t>
            </a:r>
            <a:endParaRPr lang="en-US" sz="732" dirty="0"/>
          </a:p>
        </p:txBody>
      </p:sp>
      <p:sp>
        <p:nvSpPr>
          <p:cNvPr id="15" name="Text 10"/>
          <p:cNvSpPr/>
          <p:nvPr/>
        </p:nvSpPr>
        <p:spPr>
          <a:xfrm>
            <a:off x="1457325" y="3866164"/>
            <a:ext cx="1800225" cy="150019"/>
          </a:xfrm>
          <a:prstGeom prst="rect">
            <a:avLst/>
          </a:prstGeom>
          <a:noFill/>
          <a:ln/>
        </p:spPr>
        <p:txBody>
          <a:bodyPr wrap="non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Proyecciones [aux]</a:t>
            </a:r>
            <a:endParaRPr lang="en-US" sz="732" dirty="0"/>
          </a:p>
        </p:txBody>
      </p:sp>
      <p:sp>
        <p:nvSpPr>
          <p:cNvPr id="16" name="Text 11"/>
          <p:cNvSpPr/>
          <p:nvPr/>
        </p:nvSpPr>
        <p:spPr>
          <a:xfrm>
            <a:off x="600075" y="4223352"/>
            <a:ext cx="857250" cy="450056"/>
          </a:xfrm>
          <a:prstGeom prst="rect">
            <a:avLst/>
          </a:prstGeom>
          <a:noFill/>
          <a:ln/>
        </p:spPr>
        <p:txBody>
          <a:bodyPr wrap="squar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Derivado de:</a:t>
            </a:r>
            <a:endParaRPr lang="en-US" sz="732" dirty="0"/>
          </a:p>
        </p:txBody>
      </p:sp>
      <p:sp>
        <p:nvSpPr>
          <p:cNvPr id="17" name="Text 12"/>
          <p:cNvSpPr/>
          <p:nvPr/>
        </p:nvSpPr>
        <p:spPr>
          <a:xfrm>
            <a:off x="1457325" y="4223352"/>
            <a:ext cx="1800225" cy="450056"/>
          </a:xfrm>
          <a:prstGeom prst="rect">
            <a:avLst/>
          </a:prstGeom>
          <a:noFill/>
          <a:ln/>
        </p:spPr>
        <p:txBody>
          <a:bodyPr wrap="squar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Proyectos estimados y confirmados, Costos directos e indirectos, Costos estimados</a:t>
            </a:r>
            <a:endParaRPr lang="en-US" sz="732" dirty="0"/>
          </a:p>
        </p:txBody>
      </p:sp>
      <p:sp>
        <p:nvSpPr>
          <p:cNvPr id="18" name="Shape 13"/>
          <p:cNvSpPr/>
          <p:nvPr/>
        </p:nvSpPr>
        <p:spPr>
          <a:xfrm>
            <a:off x="428625" y="5044883"/>
            <a:ext cx="3000375" cy="708627"/>
          </a:xfrm>
          <a:prstGeom prst="rect">
            <a:avLst/>
          </a:prstGeom>
          <a:solidFill>
            <a:srgbClr val="00D4FF">
              <a:alpha val="8000"/>
            </a:srgbClr>
          </a:solidFill>
          <a:ln/>
        </p:spPr>
      </p:sp>
      <p:sp>
        <p:nvSpPr>
          <p:cNvPr id="19" name="Shape 14"/>
          <p:cNvSpPr/>
          <p:nvPr/>
        </p:nvSpPr>
        <p:spPr>
          <a:xfrm>
            <a:off x="428625" y="5044883"/>
            <a:ext cx="21431" cy="708627"/>
          </a:xfrm>
          <a:prstGeom prst="rect">
            <a:avLst/>
          </a:prstGeom>
          <a:solidFill>
            <a:srgbClr val="00D4FF"/>
          </a:solidFill>
          <a:ln/>
        </p:spPr>
      </p:sp>
      <p:sp>
        <p:nvSpPr>
          <p:cNvPr id="20" name="Text 15"/>
          <p:cNvSpPr/>
          <p:nvPr/>
        </p:nvSpPr>
        <p:spPr>
          <a:xfrm>
            <a:off x="542925" y="5169898"/>
            <a:ext cx="262951" cy="135731"/>
          </a:xfrm>
          <a:prstGeom prst="rect">
            <a:avLst/>
          </a:prstGeom>
          <a:noFill/>
          <a:ln/>
        </p:spPr>
        <p:txBody>
          <a:bodyPr wrap="none" lIns="0" tIns="0" rIns="0" bIns="0" rtlCol="0" anchor="ctr">
            <a:spAutoFit/>
          </a:bodyPr>
          <a:lstStyle/>
          <a:p>
            <a:pPr indent="0" marL="0">
              <a:buNone/>
            </a:pPr>
            <a:r>
              <a:rPr lang="en-US" sz="732" b="1" i="1" dirty="0">
                <a:solidFill>
                  <a:srgbClr val="E8E8E8"/>
                </a:solidFill>
                <a:latin typeface="Noto Sans" pitchFamily="34" charset="0"/>
                <a:ea typeface="Noto Sans" pitchFamily="34" charset="-122"/>
                <a:cs typeface="Noto Sans" pitchFamily="34" charset="-120"/>
              </a:rPr>
              <a:t>Nota:</a:t>
            </a:r>
            <a:endParaRPr lang="en-US" sz="732" dirty="0"/>
          </a:p>
        </p:txBody>
      </p:sp>
      <p:sp>
        <p:nvSpPr>
          <p:cNvPr id="21" name="Text 16"/>
          <p:cNvSpPr/>
          <p:nvPr/>
        </p:nvSpPr>
        <p:spPr>
          <a:xfrm>
            <a:off x="805876" y="5169898"/>
            <a:ext cx="2454018" cy="135731"/>
          </a:xfrm>
          <a:prstGeom prst="rect">
            <a:avLst/>
          </a:prstGeom>
          <a:noFill/>
          <a:ln/>
        </p:spPr>
        <p:txBody>
          <a:bodyPr wrap="none" lIns="0" tIns="0" rIns="0" bIns="0" rtlCol="0" anchor="ctr">
            <a:spAutoFit/>
          </a:bodyPr>
          <a:lstStyle/>
          <a:p>
            <a:pPr indent="0" marL="0">
              <a:buNone/>
            </a:pPr>
            <a:r>
              <a:rPr lang="en-US" sz="732" i="1" dirty="0">
                <a:solidFill>
                  <a:srgbClr val="E8E8E8"/>
                </a:solidFill>
                <a:latin typeface="Noto Sans" pitchFamily="34" charset="0"/>
                <a:ea typeface="Noto Sans" pitchFamily="34" charset="-122"/>
                <a:cs typeface="Noto Sans" pitchFamily="34" charset="-120"/>
              </a:rPr>
              <a:t> Esta vista permite comparar el rendimiento real contra </a:t>
            </a:r>
            <a:endParaRPr lang="en-US" sz="732" dirty="0"/>
          </a:p>
        </p:txBody>
      </p:sp>
      <p:sp>
        <p:nvSpPr>
          <p:cNvPr id="22" name="Text 17"/>
          <p:cNvSpPr/>
          <p:nvPr/>
        </p:nvSpPr>
        <p:spPr>
          <a:xfrm>
            <a:off x="542925" y="5329907"/>
            <a:ext cx="2581349" cy="135731"/>
          </a:xfrm>
          <a:prstGeom prst="rect">
            <a:avLst/>
          </a:prstGeom>
          <a:noFill/>
          <a:ln/>
        </p:spPr>
        <p:txBody>
          <a:bodyPr wrap="none" lIns="0" tIns="0" rIns="0" bIns="0" rtlCol="0" anchor="ctr">
            <a:spAutoFit/>
          </a:bodyPr>
          <a:lstStyle/>
          <a:p>
            <a:pPr indent="0" marL="0">
              <a:buNone/>
            </a:pPr>
            <a:r>
              <a:rPr lang="en-US" sz="732" i="1" dirty="0">
                <a:solidFill>
                  <a:srgbClr val="E8E8E8"/>
                </a:solidFill>
                <a:latin typeface="Noto Sans" pitchFamily="34" charset="0"/>
                <a:ea typeface="Noto Sans" pitchFamily="34" charset="-122"/>
                <a:cs typeface="Noto Sans" pitchFamily="34" charset="-120"/>
              </a:rPr>
              <a:t>las proyecciones para una mejor planificación financiera y </a:t>
            </a:r>
            <a:endParaRPr lang="en-US" sz="732" dirty="0"/>
          </a:p>
        </p:txBody>
      </p:sp>
      <p:sp>
        <p:nvSpPr>
          <p:cNvPr id="23" name="Text 18"/>
          <p:cNvSpPr/>
          <p:nvPr/>
        </p:nvSpPr>
        <p:spPr>
          <a:xfrm>
            <a:off x="542925" y="5489916"/>
            <a:ext cx="1433606" cy="135731"/>
          </a:xfrm>
          <a:prstGeom prst="rect">
            <a:avLst/>
          </a:prstGeom>
          <a:noFill/>
          <a:ln/>
        </p:spPr>
        <p:txBody>
          <a:bodyPr wrap="none" lIns="0" tIns="0" rIns="0" bIns="0" rtlCol="0" anchor="ctr">
            <a:spAutoFit/>
          </a:bodyPr>
          <a:lstStyle/>
          <a:p>
            <a:pPr indent="0" marL="0">
              <a:buNone/>
            </a:pPr>
            <a:r>
              <a:rPr lang="en-US" sz="732" i="1" dirty="0">
                <a:solidFill>
                  <a:srgbClr val="E8E8E8"/>
                </a:solidFill>
                <a:latin typeface="Noto Sans" pitchFamily="34" charset="0"/>
                <a:ea typeface="Noto Sans" pitchFamily="34" charset="-122"/>
                <a:cs typeface="Noto Sans" pitchFamily="34" charset="-120"/>
              </a:rPr>
              <a:t>toma de decisiones estratégicas. </a:t>
            </a:r>
            <a:endParaRPr lang="en-US" sz="732" dirty="0"/>
          </a:p>
        </p:txBody>
      </p:sp>
      <p:pic>
        <p:nvPicPr>
          <p:cNvPr id="24" name="Image 3" descr="preencoded.png">    </p:cNvPr>
          <p:cNvPicPr>
            <a:picLocks noChangeAspect="1"/>
          </p:cNvPicPr>
          <p:nvPr/>
        </p:nvPicPr>
        <p:blipFill>
          <a:blip r:embed="rId4"/>
          <a:stretch>
            <a:fillRect/>
          </a:stretch>
        </p:blipFill>
        <p:spPr>
          <a:xfrm>
            <a:off x="3643313" y="1000125"/>
            <a:ext cx="5072063" cy="4143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377108"/>
          </a:xfrm>
          <a:prstGeom prst="rect">
            <a:avLst/>
          </a:prstGeom>
        </p:spPr>
      </p:pic>
      <p:sp>
        <p:nvSpPr>
          <p:cNvPr id="3" name="Text 0"/>
          <p:cNvSpPr/>
          <p:nvPr/>
        </p:nvSpPr>
        <p:spPr>
          <a:xfrm>
            <a:off x="428625" y="285750"/>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Proyectos YTD y Estimados</a:t>
            </a:r>
            <a:endParaRPr lang="en-US" sz="2025" dirty="0"/>
          </a:p>
        </p:txBody>
      </p:sp>
      <p:sp>
        <p:nvSpPr>
          <p:cNvPr id="4" name="Shape 1"/>
          <p:cNvSpPr/>
          <p:nvPr/>
        </p:nvSpPr>
        <p:spPr>
          <a:xfrm>
            <a:off x="428625" y="728663"/>
            <a:ext cx="571500" cy="21431"/>
          </a:xfrm>
          <a:prstGeom prst="rect">
            <a:avLst/>
          </a:prstGeom>
          <a:solidFill>
            <a:srgbClr val="00D4FF"/>
          </a:solidFill>
          <a:ln/>
        </p:spPr>
      </p:sp>
      <p:pic>
        <p:nvPicPr>
          <p:cNvPr id="5" name="Image 1" descr="preencoded.png">    </p:cNvPr>
          <p:cNvPicPr>
            <a:picLocks noChangeAspect="1"/>
          </p:cNvPicPr>
          <p:nvPr/>
        </p:nvPicPr>
        <p:blipFill>
          <a:blip r:embed="rId2"/>
          <a:stretch>
            <a:fillRect/>
          </a:stretch>
        </p:blipFill>
        <p:spPr>
          <a:xfrm>
            <a:off x="428625" y="1634775"/>
            <a:ext cx="5715000" cy="3714750"/>
          </a:xfrm>
          <a:prstGeom prst="rect">
            <a:avLst/>
          </a:prstGeom>
        </p:spPr>
      </p:pic>
      <p:sp>
        <p:nvSpPr>
          <p:cNvPr id="6" name="Shape 2"/>
          <p:cNvSpPr/>
          <p:nvPr/>
        </p:nvSpPr>
        <p:spPr>
          <a:xfrm>
            <a:off x="6322219" y="892969"/>
            <a:ext cx="2393156" cy="1640105"/>
          </a:xfrm>
          <a:prstGeom prst="rect">
            <a:avLst/>
          </a:prstGeom>
          <a:solidFill>
            <a:srgbClr val="0066FF">
              <a:alpha val="8000"/>
            </a:srgbClr>
          </a:solidFill>
          <a:ln w="298">
            <a:solidFill>
              <a:srgbClr val="00D4FF"/>
            </a:solidFill>
            <a:prstDash val="solid"/>
          </a:ln>
        </p:spPr>
      </p:sp>
      <p:sp>
        <p:nvSpPr>
          <p:cNvPr id="7" name="Text 3"/>
          <p:cNvSpPr/>
          <p:nvPr/>
        </p:nvSpPr>
        <p:spPr>
          <a:xfrm>
            <a:off x="6450806" y="1021556"/>
            <a:ext cx="2135981"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Descripción</a:t>
            </a:r>
            <a:endParaRPr lang="en-US" sz="942" dirty="0"/>
          </a:p>
        </p:txBody>
      </p:sp>
      <p:sp>
        <p:nvSpPr>
          <p:cNvPr id="8" name="Text 4"/>
          <p:cNvSpPr/>
          <p:nvPr/>
        </p:nvSpPr>
        <p:spPr>
          <a:xfrm>
            <a:off x="6450806" y="1285875"/>
            <a:ext cx="2135981" cy="1097180"/>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Desglose detallado de la facturación por cliente, mostrando tanto las proyecciones futuras como los datos YTD (Year to Date). Todos los valores presentados no incluyen IVA para mayor claridad en el análisis financiero. </a:t>
            </a:r>
            <a:endParaRPr lang="en-US" sz="837" dirty="0"/>
          </a:p>
        </p:txBody>
      </p:sp>
      <p:sp>
        <p:nvSpPr>
          <p:cNvPr id="9" name="Shape 5"/>
          <p:cNvSpPr/>
          <p:nvPr/>
        </p:nvSpPr>
        <p:spPr>
          <a:xfrm>
            <a:off x="6322219" y="2625942"/>
            <a:ext cx="2393156" cy="1803797"/>
          </a:xfrm>
          <a:prstGeom prst="rect">
            <a:avLst/>
          </a:prstGeom>
          <a:solidFill>
            <a:srgbClr val="0066FF">
              <a:alpha val="8000"/>
            </a:srgbClr>
          </a:solidFill>
          <a:ln w="298">
            <a:solidFill>
              <a:srgbClr val="00D4FF"/>
            </a:solidFill>
            <a:prstDash val="solid"/>
          </a:ln>
        </p:spPr>
      </p:sp>
      <p:sp>
        <p:nvSpPr>
          <p:cNvPr id="10" name="Text 6"/>
          <p:cNvSpPr/>
          <p:nvPr/>
        </p:nvSpPr>
        <p:spPr>
          <a:xfrm>
            <a:off x="6450806" y="2754530"/>
            <a:ext cx="2135981"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Filtros Disponibles</a:t>
            </a:r>
            <a:endParaRPr lang="en-US" sz="942" dirty="0"/>
          </a:p>
        </p:txBody>
      </p:sp>
      <p:sp>
        <p:nvSpPr>
          <p:cNvPr id="11" name="Text 7"/>
          <p:cNvSpPr/>
          <p:nvPr/>
        </p:nvSpPr>
        <p:spPr>
          <a:xfrm>
            <a:off x="6450806" y="3018848"/>
            <a:ext cx="642938" cy="250031"/>
          </a:xfrm>
          <a:prstGeom prst="rect">
            <a:avLst/>
          </a:prstGeom>
          <a:noFill/>
          <a:ln/>
        </p:spPr>
        <p:txBody>
          <a:bodyPr wrap="square" lIns="0" tIns="51054" rIns="0" bIns="51054" rtlCol="0" anchor="ctr">
            <a:spAutoFit/>
          </a:bodyPr>
          <a:lstStyle/>
          <a:p>
            <a:pPr indent="0" marL="0">
              <a:buNone/>
            </a:pPr>
            <a:r>
              <a:rPr lang="en-US" sz="785" b="1" dirty="0">
                <a:solidFill>
                  <a:srgbClr val="0066FF"/>
                </a:solidFill>
                <a:latin typeface="Noto Sans" pitchFamily="34" charset="0"/>
                <a:ea typeface="Noto Sans" pitchFamily="34" charset="-122"/>
                <a:cs typeface="Noto Sans" pitchFamily="34" charset="-120"/>
              </a:rPr>
              <a:t>Mes</a:t>
            </a:r>
            <a:endParaRPr lang="en-US" sz="785" dirty="0"/>
          </a:p>
        </p:txBody>
      </p:sp>
      <p:sp>
        <p:nvSpPr>
          <p:cNvPr id="12" name="Text 8"/>
          <p:cNvSpPr/>
          <p:nvPr/>
        </p:nvSpPr>
        <p:spPr>
          <a:xfrm>
            <a:off x="7093744" y="3018848"/>
            <a:ext cx="1493044" cy="250031"/>
          </a:xfrm>
          <a:prstGeom prst="rect">
            <a:avLst/>
          </a:prstGeom>
          <a:noFill/>
          <a:ln/>
        </p:spPr>
        <p:txBody>
          <a:bodyPr wrap="square" lIns="0" tIns="51054" rIns="0" bIns="51054"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Selección de mes específico</a:t>
            </a:r>
            <a:endParaRPr lang="en-US" sz="785" dirty="0"/>
          </a:p>
        </p:txBody>
      </p:sp>
      <p:sp>
        <p:nvSpPr>
          <p:cNvPr id="13" name="Text 9"/>
          <p:cNvSpPr/>
          <p:nvPr/>
        </p:nvSpPr>
        <p:spPr>
          <a:xfrm>
            <a:off x="6450806" y="3268880"/>
            <a:ext cx="642938" cy="253603"/>
          </a:xfrm>
          <a:prstGeom prst="rect">
            <a:avLst/>
          </a:prstGeom>
          <a:noFill/>
          <a:ln/>
        </p:spPr>
        <p:txBody>
          <a:bodyPr wrap="square" lIns="0" tIns="51054" rIns="0" bIns="51054" rtlCol="0" anchor="ctr">
            <a:spAutoFit/>
          </a:bodyPr>
          <a:lstStyle/>
          <a:p>
            <a:pPr indent="0" marL="0">
              <a:buNone/>
            </a:pPr>
            <a:r>
              <a:rPr lang="en-US" sz="785" b="1" dirty="0">
                <a:solidFill>
                  <a:srgbClr val="0066FF"/>
                </a:solidFill>
                <a:latin typeface="Noto Sans" pitchFamily="34" charset="0"/>
                <a:ea typeface="Noto Sans" pitchFamily="34" charset="-122"/>
                <a:cs typeface="Noto Sans" pitchFamily="34" charset="-120"/>
              </a:rPr>
              <a:t>Año</a:t>
            </a:r>
            <a:endParaRPr lang="en-US" sz="785" dirty="0"/>
          </a:p>
        </p:txBody>
      </p:sp>
      <p:sp>
        <p:nvSpPr>
          <p:cNvPr id="14" name="Text 10"/>
          <p:cNvSpPr/>
          <p:nvPr/>
        </p:nvSpPr>
        <p:spPr>
          <a:xfrm>
            <a:off x="7093744" y="3268880"/>
            <a:ext cx="1493044" cy="253603"/>
          </a:xfrm>
          <a:prstGeom prst="rect">
            <a:avLst/>
          </a:prstGeom>
          <a:noFill/>
          <a:ln/>
        </p:spPr>
        <p:txBody>
          <a:bodyPr wrap="square" lIns="0" tIns="51054" rIns="0" bIns="51054"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Selección de año</a:t>
            </a:r>
            <a:endParaRPr lang="en-US" sz="785" dirty="0"/>
          </a:p>
        </p:txBody>
      </p:sp>
      <p:sp>
        <p:nvSpPr>
          <p:cNvPr id="15" name="Text 11"/>
          <p:cNvSpPr/>
          <p:nvPr/>
        </p:nvSpPr>
        <p:spPr>
          <a:xfrm>
            <a:off x="6450806" y="3522483"/>
            <a:ext cx="642938" cy="253603"/>
          </a:xfrm>
          <a:prstGeom prst="rect">
            <a:avLst/>
          </a:prstGeom>
          <a:noFill/>
          <a:ln/>
        </p:spPr>
        <p:txBody>
          <a:bodyPr wrap="square" lIns="0" tIns="51054" rIns="0" bIns="51054" rtlCol="0" anchor="ctr">
            <a:spAutoFit/>
          </a:bodyPr>
          <a:lstStyle/>
          <a:p>
            <a:pPr indent="0" marL="0">
              <a:buNone/>
            </a:pPr>
            <a:r>
              <a:rPr lang="en-US" sz="785" b="1" dirty="0">
                <a:solidFill>
                  <a:srgbClr val="0066FF"/>
                </a:solidFill>
                <a:latin typeface="Noto Sans" pitchFamily="34" charset="0"/>
                <a:ea typeface="Noto Sans" pitchFamily="34" charset="-122"/>
                <a:cs typeface="Noto Sans" pitchFamily="34" charset="-120"/>
              </a:rPr>
              <a:t>Cliente</a:t>
            </a:r>
            <a:endParaRPr lang="en-US" sz="785" dirty="0"/>
          </a:p>
        </p:txBody>
      </p:sp>
      <p:sp>
        <p:nvSpPr>
          <p:cNvPr id="16" name="Text 12"/>
          <p:cNvSpPr/>
          <p:nvPr/>
        </p:nvSpPr>
        <p:spPr>
          <a:xfrm>
            <a:off x="7093744" y="3522483"/>
            <a:ext cx="1493044" cy="253603"/>
          </a:xfrm>
          <a:prstGeom prst="rect">
            <a:avLst/>
          </a:prstGeom>
          <a:noFill/>
          <a:ln/>
        </p:spPr>
        <p:txBody>
          <a:bodyPr wrap="square" lIns="0" tIns="51054" rIns="0" bIns="51054"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Filtro por cliente específico</a:t>
            </a:r>
            <a:endParaRPr lang="en-US" sz="785" dirty="0"/>
          </a:p>
        </p:txBody>
      </p:sp>
      <p:sp>
        <p:nvSpPr>
          <p:cNvPr id="17" name="Text 13"/>
          <p:cNvSpPr/>
          <p:nvPr/>
        </p:nvSpPr>
        <p:spPr>
          <a:xfrm>
            <a:off x="6450806" y="3776086"/>
            <a:ext cx="642938" cy="253603"/>
          </a:xfrm>
          <a:prstGeom prst="rect">
            <a:avLst/>
          </a:prstGeom>
          <a:noFill/>
          <a:ln/>
        </p:spPr>
        <p:txBody>
          <a:bodyPr wrap="square" lIns="0" tIns="51054" rIns="0" bIns="51054" rtlCol="0" anchor="ctr">
            <a:spAutoFit/>
          </a:bodyPr>
          <a:lstStyle/>
          <a:p>
            <a:pPr indent="0" marL="0">
              <a:buNone/>
            </a:pPr>
            <a:r>
              <a:rPr lang="en-US" sz="785" b="1" dirty="0">
                <a:solidFill>
                  <a:srgbClr val="0066FF"/>
                </a:solidFill>
                <a:latin typeface="Noto Sans" pitchFamily="34" charset="0"/>
                <a:ea typeface="Noto Sans" pitchFamily="34" charset="-122"/>
                <a:cs typeface="Noto Sans" pitchFamily="34" charset="-120"/>
              </a:rPr>
              <a:t>Detalle</a:t>
            </a:r>
            <a:endParaRPr lang="en-US" sz="785" dirty="0"/>
          </a:p>
        </p:txBody>
      </p:sp>
      <p:sp>
        <p:nvSpPr>
          <p:cNvPr id="18" name="Text 14"/>
          <p:cNvSpPr/>
          <p:nvPr/>
        </p:nvSpPr>
        <p:spPr>
          <a:xfrm>
            <a:off x="7093744" y="3776086"/>
            <a:ext cx="1493044" cy="253603"/>
          </a:xfrm>
          <a:prstGeom prst="rect">
            <a:avLst/>
          </a:prstGeom>
          <a:noFill/>
          <a:ln/>
        </p:spPr>
        <p:txBody>
          <a:bodyPr wrap="square" lIns="0" tIns="51054" rIns="0" bIns="51054"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Nivel de detalle del proyecto</a:t>
            </a:r>
            <a:endParaRPr lang="en-US" sz="785" dirty="0"/>
          </a:p>
        </p:txBody>
      </p:sp>
      <p:sp>
        <p:nvSpPr>
          <p:cNvPr id="19" name="Text 15"/>
          <p:cNvSpPr/>
          <p:nvPr/>
        </p:nvSpPr>
        <p:spPr>
          <a:xfrm>
            <a:off x="6450806" y="4029689"/>
            <a:ext cx="642938" cy="250031"/>
          </a:xfrm>
          <a:prstGeom prst="rect">
            <a:avLst/>
          </a:prstGeom>
          <a:noFill/>
          <a:ln/>
        </p:spPr>
        <p:txBody>
          <a:bodyPr wrap="square" lIns="0" tIns="51054" rIns="0" bIns="51054" rtlCol="0" anchor="ctr">
            <a:spAutoFit/>
          </a:bodyPr>
          <a:lstStyle/>
          <a:p>
            <a:pPr indent="0" marL="0">
              <a:buNone/>
            </a:pPr>
            <a:r>
              <a:rPr lang="en-US" sz="785" b="1" dirty="0">
                <a:solidFill>
                  <a:srgbClr val="0066FF"/>
                </a:solidFill>
                <a:latin typeface="Noto Sans" pitchFamily="34" charset="0"/>
                <a:ea typeface="Noto Sans" pitchFamily="34" charset="-122"/>
                <a:cs typeface="Noto Sans" pitchFamily="34" charset="-120"/>
              </a:rPr>
              <a:t>Tipo</a:t>
            </a:r>
            <a:endParaRPr lang="en-US" sz="785" dirty="0"/>
          </a:p>
        </p:txBody>
      </p:sp>
      <p:sp>
        <p:nvSpPr>
          <p:cNvPr id="20" name="Text 16"/>
          <p:cNvSpPr/>
          <p:nvPr/>
        </p:nvSpPr>
        <p:spPr>
          <a:xfrm>
            <a:off x="7093744" y="4029689"/>
            <a:ext cx="1493044" cy="250031"/>
          </a:xfrm>
          <a:prstGeom prst="rect">
            <a:avLst/>
          </a:prstGeom>
          <a:noFill/>
          <a:ln/>
        </p:spPr>
        <p:txBody>
          <a:bodyPr wrap="square" lIns="0" tIns="51054" rIns="0" bIns="51054"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Fee, One Shot</a:t>
            </a:r>
            <a:endParaRPr lang="en-US" sz="785" dirty="0"/>
          </a:p>
        </p:txBody>
      </p:sp>
      <p:sp>
        <p:nvSpPr>
          <p:cNvPr id="21" name="Shape 17"/>
          <p:cNvSpPr/>
          <p:nvPr/>
        </p:nvSpPr>
        <p:spPr>
          <a:xfrm>
            <a:off x="6322219" y="4522608"/>
            <a:ext cx="2393156" cy="1525888"/>
          </a:xfrm>
          <a:prstGeom prst="rect">
            <a:avLst/>
          </a:prstGeom>
          <a:solidFill>
            <a:srgbClr val="0066FF">
              <a:alpha val="8000"/>
            </a:srgbClr>
          </a:solidFill>
          <a:ln w="298">
            <a:solidFill>
              <a:srgbClr val="00D4FF"/>
            </a:solidFill>
            <a:prstDash val="solid"/>
          </a:ln>
        </p:spPr>
      </p:sp>
      <p:sp>
        <p:nvSpPr>
          <p:cNvPr id="22" name="Text 18"/>
          <p:cNvSpPr/>
          <p:nvPr/>
        </p:nvSpPr>
        <p:spPr>
          <a:xfrm>
            <a:off x="6450806" y="4651195"/>
            <a:ext cx="2135981"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Fuente de Datos</a:t>
            </a:r>
            <a:endParaRPr lang="en-US" sz="942" dirty="0"/>
          </a:p>
        </p:txBody>
      </p:sp>
      <p:sp>
        <p:nvSpPr>
          <p:cNvPr id="23" name="Text 19"/>
          <p:cNvSpPr/>
          <p:nvPr/>
        </p:nvSpPr>
        <p:spPr>
          <a:xfrm>
            <a:off x="6450806" y="4915514"/>
            <a:ext cx="2135981" cy="182863"/>
          </a:xfrm>
          <a:prstGeom prst="rect">
            <a:avLst/>
          </a:prstGeom>
          <a:noFill/>
          <a:ln/>
        </p:spPr>
        <p:txBody>
          <a:bodyPr wrap="non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Proyectos confirmados y estimados </a:t>
            </a:r>
            <a:endParaRPr lang="en-US" sz="837" dirty="0"/>
          </a:p>
        </p:txBody>
      </p:sp>
      <p:sp>
        <p:nvSpPr>
          <p:cNvPr id="24" name="Shape 20"/>
          <p:cNvSpPr/>
          <p:nvPr/>
        </p:nvSpPr>
        <p:spPr>
          <a:xfrm>
            <a:off x="6450806" y="5155527"/>
            <a:ext cx="2135981" cy="742950"/>
          </a:xfrm>
          <a:prstGeom prst="rect">
            <a:avLst/>
          </a:prstGeom>
          <a:solidFill>
            <a:srgbClr val="00D4FF">
              <a:alpha val="10000"/>
            </a:srgbClr>
          </a:solidFill>
          <a:ln/>
        </p:spPr>
      </p:sp>
      <p:pic>
        <p:nvPicPr>
          <p:cNvPr id="25" name="Image 2" descr="preencoded.png">    </p:cNvPr>
          <p:cNvPicPr>
            <a:picLocks noChangeAspect="1"/>
          </p:cNvPicPr>
          <p:nvPr/>
        </p:nvPicPr>
        <p:blipFill>
          <a:blip r:embed="rId3"/>
          <a:stretch>
            <a:fillRect/>
          </a:stretch>
        </p:blipFill>
        <p:spPr>
          <a:xfrm>
            <a:off x="6550819" y="5251968"/>
            <a:ext cx="100013" cy="100013"/>
          </a:xfrm>
          <a:prstGeom prst="rect">
            <a:avLst/>
          </a:prstGeom>
        </p:spPr>
      </p:pic>
      <p:sp>
        <p:nvSpPr>
          <p:cNvPr id="26" name="Text 21"/>
          <p:cNvSpPr/>
          <p:nvPr/>
        </p:nvSpPr>
        <p:spPr>
          <a:xfrm>
            <a:off x="6650831" y="5234108"/>
            <a:ext cx="1452107" cy="135731"/>
          </a:xfrm>
          <a:prstGeom prst="rect">
            <a:avLst/>
          </a:prstGeom>
          <a:noFill/>
          <a:ln/>
        </p:spPr>
        <p:txBody>
          <a:bodyPr wrap="none" lIns="0" tIns="0" rIns="0" bIns="0"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 Esta vista permite comparar el </a:t>
            </a:r>
            <a:endParaRPr lang="en-US" sz="732" dirty="0"/>
          </a:p>
        </p:txBody>
      </p:sp>
      <p:sp>
        <p:nvSpPr>
          <p:cNvPr id="27" name="Text 22"/>
          <p:cNvSpPr/>
          <p:nvPr/>
        </p:nvSpPr>
        <p:spPr>
          <a:xfrm>
            <a:off x="6550819" y="5384127"/>
            <a:ext cx="1885559" cy="135731"/>
          </a:xfrm>
          <a:prstGeom prst="rect">
            <a:avLst/>
          </a:prstGeom>
          <a:noFill/>
          <a:ln/>
        </p:spPr>
        <p:txBody>
          <a:bodyPr wrap="none" lIns="0" tIns="0" rIns="0" bIns="0"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desempeño real contra las estimaciones </a:t>
            </a:r>
            <a:endParaRPr lang="en-US" sz="732" dirty="0"/>
          </a:p>
        </p:txBody>
      </p:sp>
      <p:sp>
        <p:nvSpPr>
          <p:cNvPr id="28" name="Text 23"/>
          <p:cNvSpPr/>
          <p:nvPr/>
        </p:nvSpPr>
        <p:spPr>
          <a:xfrm>
            <a:off x="6550819" y="5534146"/>
            <a:ext cx="1483695" cy="135731"/>
          </a:xfrm>
          <a:prstGeom prst="rect">
            <a:avLst/>
          </a:prstGeom>
          <a:noFill/>
          <a:ln/>
        </p:spPr>
        <p:txBody>
          <a:bodyPr wrap="none" lIns="0" tIns="0" rIns="0" bIns="0"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para una mejor planificación de </a:t>
            </a:r>
            <a:endParaRPr lang="en-US" sz="732" dirty="0"/>
          </a:p>
        </p:txBody>
      </p:sp>
      <p:sp>
        <p:nvSpPr>
          <p:cNvPr id="29" name="Text 24"/>
          <p:cNvSpPr/>
          <p:nvPr/>
        </p:nvSpPr>
        <p:spPr>
          <a:xfrm>
            <a:off x="6550819" y="5684165"/>
            <a:ext cx="429964" cy="135731"/>
          </a:xfrm>
          <a:prstGeom prst="rect">
            <a:avLst/>
          </a:prstGeom>
          <a:noFill/>
          <a:ln/>
        </p:spPr>
        <p:txBody>
          <a:bodyPr wrap="none" lIns="0" tIns="0" rIns="0" bIns="0"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recursos. </a:t>
            </a:r>
            <a:endParaRPr lang="en-US" sz="732"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231359"/>
          </a:xfrm>
          <a:prstGeom prst="rect">
            <a:avLst/>
          </a:prstGeom>
        </p:spPr>
      </p:pic>
      <p:sp>
        <p:nvSpPr>
          <p:cNvPr id="3" name="Text 0"/>
          <p:cNvSpPr/>
          <p:nvPr/>
        </p:nvSpPr>
        <p:spPr>
          <a:xfrm>
            <a:off x="428625" y="285750"/>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Costos YTD y Estimados</a:t>
            </a:r>
            <a:endParaRPr lang="en-US" sz="2025" dirty="0"/>
          </a:p>
        </p:txBody>
      </p:sp>
      <p:sp>
        <p:nvSpPr>
          <p:cNvPr id="4" name="Shape 1"/>
          <p:cNvSpPr/>
          <p:nvPr/>
        </p:nvSpPr>
        <p:spPr>
          <a:xfrm>
            <a:off x="428625" y="728663"/>
            <a:ext cx="571500" cy="21431"/>
          </a:xfrm>
          <a:prstGeom prst="rect">
            <a:avLst/>
          </a:prstGeom>
          <a:solidFill>
            <a:srgbClr val="00D4FF"/>
          </a:solidFill>
          <a:ln/>
        </p:spPr>
      </p:sp>
      <p:pic>
        <p:nvPicPr>
          <p:cNvPr id="5" name="Image 1" descr="preencoded.png">    </p:cNvPr>
          <p:cNvPicPr>
            <a:picLocks noChangeAspect="1"/>
          </p:cNvPicPr>
          <p:nvPr/>
        </p:nvPicPr>
        <p:blipFill>
          <a:blip r:embed="rId2"/>
          <a:stretch>
            <a:fillRect/>
          </a:stretch>
        </p:blipFill>
        <p:spPr>
          <a:xfrm>
            <a:off x="428625" y="1490476"/>
            <a:ext cx="5715000" cy="3857625"/>
          </a:xfrm>
          <a:prstGeom prst="rect">
            <a:avLst/>
          </a:prstGeom>
        </p:spPr>
      </p:pic>
      <p:sp>
        <p:nvSpPr>
          <p:cNvPr id="6" name="Shape 2"/>
          <p:cNvSpPr/>
          <p:nvPr/>
        </p:nvSpPr>
        <p:spPr>
          <a:xfrm>
            <a:off x="6322219" y="892969"/>
            <a:ext cx="2393156" cy="3101001"/>
          </a:xfrm>
          <a:prstGeom prst="rect">
            <a:avLst/>
          </a:prstGeom>
          <a:solidFill>
            <a:srgbClr val="0066FF">
              <a:alpha val="8000"/>
            </a:srgbClr>
          </a:solidFill>
          <a:ln/>
        </p:spPr>
      </p:sp>
      <p:sp>
        <p:nvSpPr>
          <p:cNvPr id="7" name="Shape 3"/>
          <p:cNvSpPr/>
          <p:nvPr/>
        </p:nvSpPr>
        <p:spPr>
          <a:xfrm>
            <a:off x="6322219" y="892969"/>
            <a:ext cx="28575" cy="3101001"/>
          </a:xfrm>
          <a:prstGeom prst="rect">
            <a:avLst/>
          </a:prstGeom>
          <a:solidFill>
            <a:srgbClr val="00D4FF"/>
          </a:solidFill>
          <a:ln/>
        </p:spPr>
      </p:sp>
      <p:sp>
        <p:nvSpPr>
          <p:cNvPr id="8" name="Text 4"/>
          <p:cNvSpPr/>
          <p:nvPr/>
        </p:nvSpPr>
        <p:spPr>
          <a:xfrm>
            <a:off x="6465094" y="1021556"/>
            <a:ext cx="2107406" cy="192881"/>
          </a:xfrm>
          <a:prstGeom prst="rect">
            <a:avLst/>
          </a:prstGeom>
          <a:noFill/>
          <a:ln/>
        </p:spPr>
        <p:txBody>
          <a:bodyPr wrap="none" lIns="0" tIns="0" rIns="0" bIns="0" rtlCol="0" anchor="ctr">
            <a:spAutoFit/>
          </a:bodyPr>
          <a:lstStyle/>
          <a:p>
            <a:pPr indent="0" marL="0">
              <a:buNone/>
            </a:pPr>
            <a:r>
              <a:rPr lang="en-US" sz="942" b="1" dirty="0">
                <a:solidFill>
                  <a:srgbClr val="FFFFFF"/>
                </a:solidFill>
                <a:latin typeface="Noto Sans" pitchFamily="34" charset="0"/>
                <a:ea typeface="Noto Sans" pitchFamily="34" charset="-122"/>
                <a:cs typeface="Noto Sans" pitchFamily="34" charset="-120"/>
              </a:rPr>
              <a:t>Descripción</a:t>
            </a:r>
            <a:endParaRPr lang="en-US" sz="942" dirty="0"/>
          </a:p>
        </p:txBody>
      </p:sp>
      <p:sp>
        <p:nvSpPr>
          <p:cNvPr id="9" name="Text 5"/>
          <p:cNvSpPr/>
          <p:nvPr/>
        </p:nvSpPr>
        <p:spPr>
          <a:xfrm>
            <a:off x="6465094" y="1285875"/>
            <a:ext cx="2107406" cy="1097180"/>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Desglose de los costos por cliente, tanto proyecciones como YTD (Year to Date), sin incluir IVA. Permite visualizar la evolución de costos reales versus estimados para una gestión financiera precisa. </a:t>
            </a:r>
            <a:endParaRPr lang="en-US" sz="837" dirty="0"/>
          </a:p>
        </p:txBody>
      </p:sp>
      <p:sp>
        <p:nvSpPr>
          <p:cNvPr id="10" name="Shape 6"/>
          <p:cNvSpPr/>
          <p:nvPr/>
        </p:nvSpPr>
        <p:spPr>
          <a:xfrm>
            <a:off x="6465094" y="2454492"/>
            <a:ext cx="2107406" cy="1410891"/>
          </a:xfrm>
          <a:prstGeom prst="rect">
            <a:avLst/>
          </a:prstGeom>
          <a:solidFill>
            <a:srgbClr val="FF9900">
              <a:alpha val="12000"/>
            </a:srgbClr>
          </a:solidFill>
          <a:ln/>
        </p:spPr>
      </p:sp>
      <p:sp>
        <p:nvSpPr>
          <p:cNvPr id="11" name="Shape 7"/>
          <p:cNvSpPr/>
          <p:nvPr/>
        </p:nvSpPr>
        <p:spPr>
          <a:xfrm>
            <a:off x="6465094" y="2454492"/>
            <a:ext cx="28575" cy="1410891"/>
          </a:xfrm>
          <a:prstGeom prst="rect">
            <a:avLst/>
          </a:prstGeom>
          <a:solidFill>
            <a:srgbClr val="FF9900"/>
          </a:solidFill>
          <a:ln/>
        </p:spPr>
      </p:sp>
      <p:sp>
        <p:nvSpPr>
          <p:cNvPr id="12" name="Text 8"/>
          <p:cNvSpPr/>
          <p:nvPr/>
        </p:nvSpPr>
        <p:spPr>
          <a:xfrm>
            <a:off x="6579394" y="2540217"/>
            <a:ext cx="1878806" cy="160734"/>
          </a:xfrm>
          <a:prstGeom prst="rect">
            <a:avLst/>
          </a:prstGeom>
          <a:noFill/>
          <a:ln/>
        </p:spPr>
        <p:txBody>
          <a:bodyPr wrap="none" lIns="0" tIns="0" rIns="0" bIns="0" rtlCol="0" anchor="ctr">
            <a:spAutoFit/>
          </a:bodyPr>
          <a:lstStyle/>
          <a:p>
            <a:pPr indent="0" marL="0">
              <a:buNone/>
            </a:pPr>
            <a:r>
              <a:rPr lang="en-US" sz="785" b="1" dirty="0">
                <a:solidFill>
                  <a:srgbClr val="FFB84D"/>
                </a:solidFill>
                <a:latin typeface="Noto Sans" pitchFamily="34" charset="0"/>
                <a:ea typeface="Noto Sans" pitchFamily="34" charset="-122"/>
                <a:cs typeface="Noto Sans" pitchFamily="34" charset="-120"/>
              </a:rPr>
              <a:t>AVISO IMPORTANTE</a:t>
            </a:r>
            <a:endParaRPr lang="en-US" sz="785" dirty="0"/>
          </a:p>
        </p:txBody>
      </p:sp>
      <p:sp>
        <p:nvSpPr>
          <p:cNvPr id="13" name="Text 9"/>
          <p:cNvSpPr/>
          <p:nvPr/>
        </p:nvSpPr>
        <p:spPr>
          <a:xfrm>
            <a:off x="6579394" y="2729526"/>
            <a:ext cx="1878806" cy="1050131"/>
          </a:xfrm>
          <a:prstGeom prst="rect">
            <a:avLst/>
          </a:prstGeom>
          <a:noFill/>
          <a:ln/>
        </p:spPr>
        <p:txBody>
          <a:bodyPr wrap="squar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 Al provenir de dos bases de datos, el chip del total anual no se ve afectado por los filtros de subtipo de costo y detalle. Si se requiere conocer el valor total con los filtros aplicados, debe aplicar el filtro deseado y sumar los dos chips inferiores. </a:t>
            </a:r>
            <a:endParaRPr lang="en-US" sz="732" dirty="0"/>
          </a:p>
        </p:txBody>
      </p:sp>
      <p:sp>
        <p:nvSpPr>
          <p:cNvPr id="14" name="Shape 10"/>
          <p:cNvSpPr/>
          <p:nvPr/>
        </p:nvSpPr>
        <p:spPr>
          <a:xfrm>
            <a:off x="6322219" y="4122558"/>
            <a:ext cx="2393156" cy="1823052"/>
          </a:xfrm>
          <a:prstGeom prst="rect">
            <a:avLst/>
          </a:prstGeom>
          <a:solidFill>
            <a:srgbClr val="0066FF">
              <a:alpha val="8000"/>
            </a:srgbClr>
          </a:solidFill>
          <a:ln/>
        </p:spPr>
      </p:sp>
      <p:sp>
        <p:nvSpPr>
          <p:cNvPr id="15" name="Shape 11"/>
          <p:cNvSpPr/>
          <p:nvPr/>
        </p:nvSpPr>
        <p:spPr>
          <a:xfrm>
            <a:off x="6322219" y="4122558"/>
            <a:ext cx="28575" cy="1823052"/>
          </a:xfrm>
          <a:prstGeom prst="rect">
            <a:avLst/>
          </a:prstGeom>
          <a:solidFill>
            <a:srgbClr val="00D4FF"/>
          </a:solidFill>
          <a:ln/>
        </p:spPr>
      </p:sp>
      <p:sp>
        <p:nvSpPr>
          <p:cNvPr id="16" name="Text 12"/>
          <p:cNvSpPr/>
          <p:nvPr/>
        </p:nvSpPr>
        <p:spPr>
          <a:xfrm>
            <a:off x="6465094" y="4251145"/>
            <a:ext cx="2107406" cy="192881"/>
          </a:xfrm>
          <a:prstGeom prst="rect">
            <a:avLst/>
          </a:prstGeom>
          <a:noFill/>
          <a:ln/>
        </p:spPr>
        <p:txBody>
          <a:bodyPr wrap="none" lIns="0" tIns="0" rIns="0" bIns="0" rtlCol="0" anchor="ctr">
            <a:spAutoFit/>
          </a:bodyPr>
          <a:lstStyle/>
          <a:p>
            <a:pPr indent="0" marL="0">
              <a:buNone/>
            </a:pPr>
            <a:r>
              <a:rPr lang="en-US" sz="942" b="1" dirty="0">
                <a:solidFill>
                  <a:srgbClr val="FFFFFF"/>
                </a:solidFill>
                <a:latin typeface="Noto Sans" pitchFamily="34" charset="0"/>
                <a:ea typeface="Noto Sans" pitchFamily="34" charset="-122"/>
                <a:cs typeface="Noto Sans" pitchFamily="34" charset="-120"/>
              </a:rPr>
              <a:t>Configuración</a:t>
            </a:r>
            <a:endParaRPr lang="en-US" sz="942" dirty="0"/>
          </a:p>
        </p:txBody>
      </p:sp>
      <p:sp>
        <p:nvSpPr>
          <p:cNvPr id="17" name="Text 13"/>
          <p:cNvSpPr/>
          <p:nvPr/>
        </p:nvSpPr>
        <p:spPr>
          <a:xfrm>
            <a:off x="6465094" y="4565470"/>
            <a:ext cx="714375" cy="280002"/>
          </a:xfrm>
          <a:prstGeom prst="rect">
            <a:avLst/>
          </a:prstGeom>
          <a:noFill/>
          <a:ln/>
        </p:spPr>
        <p:txBody>
          <a:bodyPr wrap="squar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Filtros:</a:t>
            </a:r>
            <a:endParaRPr lang="en-US" sz="732" dirty="0"/>
          </a:p>
        </p:txBody>
      </p:sp>
      <p:sp>
        <p:nvSpPr>
          <p:cNvPr id="18" name="Text 14"/>
          <p:cNvSpPr/>
          <p:nvPr/>
        </p:nvSpPr>
        <p:spPr>
          <a:xfrm>
            <a:off x="7179469" y="4565470"/>
            <a:ext cx="1393031" cy="280002"/>
          </a:xfrm>
          <a:prstGeom prst="rect">
            <a:avLst/>
          </a:prstGeom>
          <a:noFill/>
          <a:ln/>
        </p:spPr>
        <p:txBody>
          <a:bodyPr wrap="squar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Mes, Año, Subtipo de costo, Detalle</a:t>
            </a:r>
            <a:endParaRPr lang="en-US" sz="732" dirty="0"/>
          </a:p>
        </p:txBody>
      </p:sp>
      <p:sp>
        <p:nvSpPr>
          <p:cNvPr id="19" name="Text 15"/>
          <p:cNvSpPr/>
          <p:nvPr/>
        </p:nvSpPr>
        <p:spPr>
          <a:xfrm>
            <a:off x="6465094" y="4952628"/>
            <a:ext cx="714375"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(Total):</a:t>
            </a:r>
            <a:endParaRPr lang="en-US" sz="732" dirty="0"/>
          </a:p>
        </p:txBody>
      </p:sp>
      <p:sp>
        <p:nvSpPr>
          <p:cNvPr id="20" name="Text 16"/>
          <p:cNvSpPr/>
          <p:nvPr/>
        </p:nvSpPr>
        <p:spPr>
          <a:xfrm>
            <a:off x="7179469" y="4952628"/>
            <a:ext cx="1393031" cy="150019"/>
          </a:xfrm>
          <a:prstGeom prst="rect">
            <a:avLst/>
          </a:prstGeom>
          <a:noFill/>
          <a:ln/>
        </p:spPr>
        <p:txBody>
          <a:bodyPr wrap="non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Proyecciones [aux]</a:t>
            </a:r>
            <a:endParaRPr lang="en-US" sz="732" dirty="0"/>
          </a:p>
        </p:txBody>
      </p:sp>
      <p:sp>
        <p:nvSpPr>
          <p:cNvPr id="21" name="Text 17"/>
          <p:cNvSpPr/>
          <p:nvPr/>
        </p:nvSpPr>
        <p:spPr>
          <a:xfrm>
            <a:off x="6465094" y="5209803"/>
            <a:ext cx="714989" cy="300038"/>
          </a:xfrm>
          <a:prstGeom prst="rect">
            <a:avLst/>
          </a:prstGeom>
          <a:noFill/>
          <a:ln/>
        </p:spPr>
        <p:txBody>
          <a:bodyPr wrap="squar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(Proyecciones):</a:t>
            </a:r>
            <a:endParaRPr lang="en-US" sz="732" dirty="0"/>
          </a:p>
        </p:txBody>
      </p:sp>
      <p:sp>
        <p:nvSpPr>
          <p:cNvPr id="22" name="Text 18"/>
          <p:cNvSpPr/>
          <p:nvPr/>
        </p:nvSpPr>
        <p:spPr>
          <a:xfrm>
            <a:off x="7180083" y="5209803"/>
            <a:ext cx="1392417" cy="300038"/>
          </a:xfrm>
          <a:prstGeom prst="rect">
            <a:avLst/>
          </a:prstGeom>
          <a:noFill/>
          <a:ln/>
        </p:spPr>
        <p:txBody>
          <a:bodyPr wrap="squar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Costos estimados</a:t>
            </a:r>
            <a:endParaRPr lang="en-US" sz="732" dirty="0"/>
          </a:p>
        </p:txBody>
      </p:sp>
      <p:sp>
        <p:nvSpPr>
          <p:cNvPr id="23" name="Text 19"/>
          <p:cNvSpPr/>
          <p:nvPr/>
        </p:nvSpPr>
        <p:spPr>
          <a:xfrm>
            <a:off x="6465094" y="5616997"/>
            <a:ext cx="714375"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(YTD):</a:t>
            </a:r>
            <a:endParaRPr lang="en-US" sz="732" dirty="0"/>
          </a:p>
        </p:txBody>
      </p:sp>
      <p:sp>
        <p:nvSpPr>
          <p:cNvPr id="24" name="Text 20"/>
          <p:cNvSpPr/>
          <p:nvPr/>
        </p:nvSpPr>
        <p:spPr>
          <a:xfrm>
            <a:off x="7179469" y="5616997"/>
            <a:ext cx="1393031" cy="150019"/>
          </a:xfrm>
          <a:prstGeom prst="rect">
            <a:avLst/>
          </a:prstGeom>
          <a:noFill/>
          <a:ln/>
        </p:spPr>
        <p:txBody>
          <a:bodyPr wrap="non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Costos directos e indirectos</a:t>
            </a:r>
            <a:endParaRPr lang="en-US" sz="73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00688"/>
          </a:xfrm>
          <a:prstGeom prst="rect">
            <a:avLst/>
          </a:prstGeom>
        </p:spPr>
      </p:pic>
      <p:sp>
        <p:nvSpPr>
          <p:cNvPr id="3" name="Text 0"/>
          <p:cNvSpPr/>
          <p:nvPr/>
        </p:nvSpPr>
        <p:spPr>
          <a:xfrm>
            <a:off x="428625" y="357188"/>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Costos Directos e Indirectos Reales</a:t>
            </a:r>
            <a:endParaRPr lang="en-US" sz="2025" dirty="0"/>
          </a:p>
        </p:txBody>
      </p:sp>
      <p:sp>
        <p:nvSpPr>
          <p:cNvPr id="4" name="Shape 1"/>
          <p:cNvSpPr/>
          <p:nvPr/>
        </p:nvSpPr>
        <p:spPr>
          <a:xfrm>
            <a:off x="428625" y="800100"/>
            <a:ext cx="571500" cy="21431"/>
          </a:xfrm>
          <a:prstGeom prst="rect">
            <a:avLst/>
          </a:prstGeom>
          <a:solidFill>
            <a:srgbClr val="00D4FF"/>
          </a:solidFill>
          <a:ln/>
        </p:spPr>
      </p:sp>
      <p:sp>
        <p:nvSpPr>
          <p:cNvPr id="5" name="Shape 2"/>
          <p:cNvSpPr/>
          <p:nvPr/>
        </p:nvSpPr>
        <p:spPr>
          <a:xfrm>
            <a:off x="428625" y="1000125"/>
            <a:ext cx="2714625" cy="1744470"/>
          </a:xfrm>
          <a:prstGeom prst="rect">
            <a:avLst/>
          </a:prstGeom>
          <a:solidFill>
            <a:srgbClr val="00D4FF">
              <a:alpha val="4000"/>
            </a:srgbClr>
          </a:solidFill>
          <a:ln w="198">
            <a:solidFill>
              <a:srgbClr val="0066FF"/>
            </a:solidFill>
            <a:prstDash val="solid"/>
          </a:ln>
        </p:spPr>
      </p:sp>
      <p:sp>
        <p:nvSpPr>
          <p:cNvPr id="6" name="Text 3"/>
          <p:cNvSpPr/>
          <p:nvPr/>
        </p:nvSpPr>
        <p:spPr>
          <a:xfrm>
            <a:off x="600075" y="1143000"/>
            <a:ext cx="2371725"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Descripción</a:t>
            </a:r>
            <a:endParaRPr lang="en-US" sz="942" dirty="0"/>
          </a:p>
        </p:txBody>
      </p:sp>
      <p:sp>
        <p:nvSpPr>
          <p:cNvPr id="7" name="Text 4"/>
          <p:cNvSpPr/>
          <p:nvPr/>
        </p:nvSpPr>
        <p:spPr>
          <a:xfrm>
            <a:off x="600075" y="1421606"/>
            <a:ext cx="2371725" cy="1165827"/>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Desglose detallado de costos reales por cliente, tipo de proyecto, detalle específico y clasificación entre costos directos e indirectos. Esta vista permite un análisis profundo de la estructura de costos de cada proyecto. </a:t>
            </a:r>
            <a:endParaRPr lang="en-US" sz="837" dirty="0"/>
          </a:p>
        </p:txBody>
      </p:sp>
      <p:sp>
        <p:nvSpPr>
          <p:cNvPr id="8" name="Shape 5"/>
          <p:cNvSpPr/>
          <p:nvPr/>
        </p:nvSpPr>
        <p:spPr>
          <a:xfrm>
            <a:off x="428625" y="2858895"/>
            <a:ext cx="2714625" cy="1114425"/>
          </a:xfrm>
          <a:prstGeom prst="rect">
            <a:avLst/>
          </a:prstGeom>
          <a:solidFill>
            <a:srgbClr val="00D4FF">
              <a:alpha val="4000"/>
            </a:srgbClr>
          </a:solidFill>
          <a:ln w="198">
            <a:solidFill>
              <a:srgbClr val="0066FF"/>
            </a:solidFill>
            <a:prstDash val="solid"/>
          </a:ln>
        </p:spPr>
      </p:sp>
      <p:sp>
        <p:nvSpPr>
          <p:cNvPr id="9" name="Text 6"/>
          <p:cNvSpPr/>
          <p:nvPr/>
        </p:nvSpPr>
        <p:spPr>
          <a:xfrm>
            <a:off x="600075" y="3001770"/>
            <a:ext cx="2371725"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Filtros</a:t>
            </a:r>
            <a:endParaRPr lang="en-US" sz="942" dirty="0"/>
          </a:p>
        </p:txBody>
      </p:sp>
      <p:sp>
        <p:nvSpPr>
          <p:cNvPr id="10" name="Shape 7"/>
          <p:cNvSpPr/>
          <p:nvPr/>
        </p:nvSpPr>
        <p:spPr>
          <a:xfrm>
            <a:off x="600075" y="3280377"/>
            <a:ext cx="366843" cy="239316"/>
          </a:xfrm>
          <a:prstGeom prst="rect">
            <a:avLst/>
          </a:prstGeom>
          <a:solidFill>
            <a:srgbClr val="0066FF">
              <a:alpha val="20000"/>
            </a:srgbClr>
          </a:solidFill>
          <a:ln w="99">
            <a:solidFill>
              <a:srgbClr val="0066FF"/>
            </a:solidFill>
            <a:prstDash val="solid"/>
          </a:ln>
        </p:spPr>
      </p:sp>
      <p:sp>
        <p:nvSpPr>
          <p:cNvPr id="11" name="Text 8"/>
          <p:cNvSpPr/>
          <p:nvPr/>
        </p:nvSpPr>
        <p:spPr>
          <a:xfrm>
            <a:off x="600075" y="3280377"/>
            <a:ext cx="366843" cy="239316"/>
          </a:xfrm>
          <a:prstGeom prst="rect">
            <a:avLst/>
          </a:prstGeom>
          <a:noFill/>
          <a:ln/>
        </p:spPr>
        <p:txBody>
          <a:bodyPr wrap="square" lIns="102108" tIns="51054" rIns="102108"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Mes</a:t>
            </a:r>
            <a:endParaRPr lang="en-US" sz="680" dirty="0"/>
          </a:p>
        </p:txBody>
      </p:sp>
      <p:sp>
        <p:nvSpPr>
          <p:cNvPr id="12" name="Shape 9"/>
          <p:cNvSpPr/>
          <p:nvPr/>
        </p:nvSpPr>
        <p:spPr>
          <a:xfrm>
            <a:off x="1009780" y="3280377"/>
            <a:ext cx="358666" cy="239316"/>
          </a:xfrm>
          <a:prstGeom prst="rect">
            <a:avLst/>
          </a:prstGeom>
          <a:solidFill>
            <a:srgbClr val="0066FF">
              <a:alpha val="20000"/>
            </a:srgbClr>
          </a:solidFill>
          <a:ln w="99">
            <a:solidFill>
              <a:srgbClr val="0066FF"/>
            </a:solidFill>
            <a:prstDash val="solid"/>
          </a:ln>
        </p:spPr>
      </p:sp>
      <p:sp>
        <p:nvSpPr>
          <p:cNvPr id="13" name="Text 10"/>
          <p:cNvSpPr/>
          <p:nvPr/>
        </p:nvSpPr>
        <p:spPr>
          <a:xfrm>
            <a:off x="1009780" y="3280377"/>
            <a:ext cx="358666" cy="239316"/>
          </a:xfrm>
          <a:prstGeom prst="rect">
            <a:avLst/>
          </a:prstGeom>
          <a:noFill/>
          <a:ln/>
        </p:spPr>
        <p:txBody>
          <a:bodyPr wrap="square" lIns="102108" tIns="51054" rIns="102108"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Año</a:t>
            </a:r>
            <a:endParaRPr lang="en-US" sz="680" dirty="0"/>
          </a:p>
        </p:txBody>
      </p:sp>
      <p:sp>
        <p:nvSpPr>
          <p:cNvPr id="14" name="Shape 11"/>
          <p:cNvSpPr/>
          <p:nvPr/>
        </p:nvSpPr>
        <p:spPr>
          <a:xfrm>
            <a:off x="1411309" y="3280377"/>
            <a:ext cx="488035" cy="239316"/>
          </a:xfrm>
          <a:prstGeom prst="rect">
            <a:avLst/>
          </a:prstGeom>
          <a:solidFill>
            <a:srgbClr val="0066FF">
              <a:alpha val="20000"/>
            </a:srgbClr>
          </a:solidFill>
          <a:ln w="99">
            <a:solidFill>
              <a:srgbClr val="0066FF"/>
            </a:solidFill>
            <a:prstDash val="solid"/>
          </a:ln>
        </p:spPr>
      </p:sp>
      <p:sp>
        <p:nvSpPr>
          <p:cNvPr id="15" name="Text 12"/>
          <p:cNvSpPr/>
          <p:nvPr/>
        </p:nvSpPr>
        <p:spPr>
          <a:xfrm>
            <a:off x="1411309" y="3280377"/>
            <a:ext cx="488035" cy="239316"/>
          </a:xfrm>
          <a:prstGeom prst="rect">
            <a:avLst/>
          </a:prstGeom>
          <a:noFill/>
          <a:ln/>
        </p:spPr>
        <p:txBody>
          <a:bodyPr wrap="square" lIns="102108" tIns="51054" rIns="102108"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Cliente</a:t>
            </a:r>
            <a:endParaRPr lang="en-US" sz="680" dirty="0"/>
          </a:p>
        </p:txBody>
      </p:sp>
      <p:sp>
        <p:nvSpPr>
          <p:cNvPr id="16" name="Shape 13"/>
          <p:cNvSpPr/>
          <p:nvPr/>
        </p:nvSpPr>
        <p:spPr>
          <a:xfrm>
            <a:off x="1942207" y="3280377"/>
            <a:ext cx="767395" cy="239316"/>
          </a:xfrm>
          <a:prstGeom prst="rect">
            <a:avLst/>
          </a:prstGeom>
          <a:solidFill>
            <a:srgbClr val="0066FF">
              <a:alpha val="20000"/>
            </a:srgbClr>
          </a:solidFill>
          <a:ln w="99">
            <a:solidFill>
              <a:srgbClr val="0066FF"/>
            </a:solidFill>
            <a:prstDash val="solid"/>
          </a:ln>
        </p:spPr>
      </p:sp>
      <p:sp>
        <p:nvSpPr>
          <p:cNvPr id="17" name="Text 14"/>
          <p:cNvSpPr/>
          <p:nvPr/>
        </p:nvSpPr>
        <p:spPr>
          <a:xfrm>
            <a:off x="1942207" y="3280377"/>
            <a:ext cx="767395" cy="239316"/>
          </a:xfrm>
          <a:prstGeom prst="rect">
            <a:avLst/>
          </a:prstGeom>
          <a:noFill/>
          <a:ln/>
        </p:spPr>
        <p:txBody>
          <a:bodyPr wrap="square" lIns="102108" tIns="51054" rIns="102108"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Tipo de costo</a:t>
            </a:r>
            <a:endParaRPr lang="en-US" sz="680" dirty="0"/>
          </a:p>
        </p:txBody>
      </p:sp>
      <p:sp>
        <p:nvSpPr>
          <p:cNvPr id="18" name="Shape 15"/>
          <p:cNvSpPr/>
          <p:nvPr/>
        </p:nvSpPr>
        <p:spPr>
          <a:xfrm>
            <a:off x="600075" y="3562555"/>
            <a:ext cx="914763" cy="239316"/>
          </a:xfrm>
          <a:prstGeom prst="rect">
            <a:avLst/>
          </a:prstGeom>
          <a:solidFill>
            <a:srgbClr val="0066FF">
              <a:alpha val="20000"/>
            </a:srgbClr>
          </a:solidFill>
          <a:ln w="99">
            <a:solidFill>
              <a:srgbClr val="0066FF"/>
            </a:solidFill>
            <a:prstDash val="solid"/>
          </a:ln>
        </p:spPr>
      </p:sp>
      <p:sp>
        <p:nvSpPr>
          <p:cNvPr id="19" name="Text 16"/>
          <p:cNvSpPr/>
          <p:nvPr/>
        </p:nvSpPr>
        <p:spPr>
          <a:xfrm>
            <a:off x="600075" y="3562555"/>
            <a:ext cx="914763" cy="239316"/>
          </a:xfrm>
          <a:prstGeom prst="rect">
            <a:avLst/>
          </a:prstGeom>
          <a:noFill/>
          <a:ln/>
        </p:spPr>
        <p:txBody>
          <a:bodyPr wrap="square" lIns="102108" tIns="51054" rIns="102108"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Subtipo de costo</a:t>
            </a:r>
            <a:endParaRPr lang="en-US" sz="680" dirty="0"/>
          </a:p>
        </p:txBody>
      </p:sp>
      <p:sp>
        <p:nvSpPr>
          <p:cNvPr id="20" name="Shape 17"/>
          <p:cNvSpPr/>
          <p:nvPr/>
        </p:nvSpPr>
        <p:spPr>
          <a:xfrm>
            <a:off x="428625" y="4059045"/>
            <a:ext cx="2714625" cy="871538"/>
          </a:xfrm>
          <a:prstGeom prst="rect">
            <a:avLst/>
          </a:prstGeom>
          <a:solidFill>
            <a:srgbClr val="00D4FF">
              <a:alpha val="4000"/>
            </a:srgbClr>
          </a:solidFill>
          <a:ln w="198">
            <a:solidFill>
              <a:srgbClr val="0066FF"/>
            </a:solidFill>
            <a:prstDash val="solid"/>
          </a:ln>
        </p:spPr>
      </p:sp>
      <p:sp>
        <p:nvSpPr>
          <p:cNvPr id="21" name="Text 18"/>
          <p:cNvSpPr/>
          <p:nvPr/>
        </p:nvSpPr>
        <p:spPr>
          <a:xfrm>
            <a:off x="600075" y="4201920"/>
            <a:ext cx="2371725"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Fuente de Datos</a:t>
            </a:r>
            <a:endParaRPr lang="en-US" sz="942" dirty="0"/>
          </a:p>
        </p:txBody>
      </p:sp>
      <p:sp>
        <p:nvSpPr>
          <p:cNvPr id="22" name="Text 19"/>
          <p:cNvSpPr/>
          <p:nvPr/>
        </p:nvSpPr>
        <p:spPr>
          <a:xfrm>
            <a:off x="600075" y="4551964"/>
            <a:ext cx="714375"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Base:</a:t>
            </a:r>
            <a:endParaRPr lang="en-US" sz="732" dirty="0"/>
          </a:p>
        </p:txBody>
      </p:sp>
      <p:sp>
        <p:nvSpPr>
          <p:cNvPr id="23" name="Text 20"/>
          <p:cNvSpPr/>
          <p:nvPr/>
        </p:nvSpPr>
        <p:spPr>
          <a:xfrm>
            <a:off x="1314450" y="4551964"/>
            <a:ext cx="1657350" cy="150019"/>
          </a:xfrm>
          <a:prstGeom prst="rect">
            <a:avLst/>
          </a:prstGeom>
          <a:noFill/>
          <a:ln/>
        </p:spPr>
        <p:txBody>
          <a:bodyPr wrap="none" lIns="0" tIns="0" rIns="0" bIns="0" rtlCol="0" anchor="ctr">
            <a:spAutoFit/>
          </a:bodyPr>
          <a:lstStyle/>
          <a:p>
            <a:pPr indent="0" marL="0">
              <a:buNone/>
            </a:pPr>
            <a:r>
              <a:rPr lang="en-US" sz="732" dirty="0">
                <a:solidFill>
                  <a:srgbClr val="E8E8E8"/>
                </a:solidFill>
                <a:latin typeface="Noto Sans" pitchFamily="34" charset="0"/>
                <a:ea typeface="Noto Sans" pitchFamily="34" charset="-122"/>
                <a:cs typeface="Noto Sans" pitchFamily="34" charset="-120"/>
              </a:rPr>
              <a:t>Costos directos e indirectos</a:t>
            </a:r>
            <a:endParaRPr lang="en-US" sz="732" dirty="0"/>
          </a:p>
        </p:txBody>
      </p:sp>
      <p:sp>
        <p:nvSpPr>
          <p:cNvPr id="24" name="Shape 21"/>
          <p:cNvSpPr/>
          <p:nvPr/>
        </p:nvSpPr>
        <p:spPr>
          <a:xfrm>
            <a:off x="3357563" y="1000125"/>
            <a:ext cx="5357813" cy="4143375"/>
          </a:xfrm>
          <a:prstGeom prst="rect">
            <a:avLst/>
          </a:prstGeom>
          <a:solidFill>
            <a:srgbClr val="000000">
              <a:alpha val="15000"/>
            </a:srgbClr>
          </a:solidFill>
          <a:ln w="99">
            <a:solidFill>
              <a:srgbClr val="00D4FF">
                <a:alpha val="20000"/>
              </a:srgbClr>
            </a:solidFill>
            <a:prstDash val="solid"/>
          </a:ln>
        </p:spPr>
      </p:sp>
      <p:pic>
        <p:nvPicPr>
          <p:cNvPr id="25" name="Image 1" descr="preencoded.png">    </p:cNvPr>
          <p:cNvPicPr>
            <a:picLocks noChangeAspect="1"/>
          </p:cNvPicPr>
          <p:nvPr/>
        </p:nvPicPr>
        <p:blipFill>
          <a:blip r:embed="rId2"/>
          <a:stretch>
            <a:fillRect/>
          </a:stretch>
        </p:blipFill>
        <p:spPr>
          <a:xfrm>
            <a:off x="3357563" y="1000125"/>
            <a:ext cx="5357813" cy="41433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287687"/>
          </a:xfrm>
          <a:prstGeom prst="rect">
            <a:avLst/>
          </a:prstGeom>
        </p:spPr>
      </p:pic>
      <p:sp>
        <p:nvSpPr>
          <p:cNvPr id="3" name="Text 0"/>
          <p:cNvSpPr/>
          <p:nvPr/>
        </p:nvSpPr>
        <p:spPr>
          <a:xfrm>
            <a:off x="428625" y="285750"/>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Costos Equipo</a:t>
            </a:r>
            <a:endParaRPr lang="en-US" sz="2025" dirty="0"/>
          </a:p>
        </p:txBody>
      </p:sp>
      <p:sp>
        <p:nvSpPr>
          <p:cNvPr id="4" name="Shape 1"/>
          <p:cNvSpPr/>
          <p:nvPr/>
        </p:nvSpPr>
        <p:spPr>
          <a:xfrm>
            <a:off x="428625" y="728663"/>
            <a:ext cx="571500" cy="21431"/>
          </a:xfrm>
          <a:prstGeom prst="rect">
            <a:avLst/>
          </a:prstGeom>
          <a:solidFill>
            <a:srgbClr val="00D4FF"/>
          </a:solidFill>
          <a:ln/>
        </p:spPr>
      </p:sp>
      <p:pic>
        <p:nvPicPr>
          <p:cNvPr id="5" name="Image 1" descr="preencoded.png">    </p:cNvPr>
          <p:cNvPicPr>
            <a:picLocks noChangeAspect="1"/>
          </p:cNvPicPr>
          <p:nvPr/>
        </p:nvPicPr>
        <p:blipFill>
          <a:blip r:embed="rId2"/>
          <a:stretch>
            <a:fillRect/>
          </a:stretch>
        </p:blipFill>
        <p:spPr>
          <a:xfrm>
            <a:off x="428625" y="892969"/>
            <a:ext cx="5715000" cy="3857625"/>
          </a:xfrm>
          <a:prstGeom prst="rect">
            <a:avLst/>
          </a:prstGeom>
        </p:spPr>
      </p:pic>
      <p:sp>
        <p:nvSpPr>
          <p:cNvPr id="6" name="Shape 2"/>
          <p:cNvSpPr/>
          <p:nvPr/>
        </p:nvSpPr>
        <p:spPr>
          <a:xfrm>
            <a:off x="6322219" y="892969"/>
            <a:ext cx="2393156" cy="1894405"/>
          </a:xfrm>
          <a:prstGeom prst="rect">
            <a:avLst/>
          </a:prstGeom>
          <a:solidFill>
            <a:srgbClr val="00D4FF">
              <a:alpha val="6000"/>
            </a:srgbClr>
          </a:solidFill>
          <a:ln/>
        </p:spPr>
      </p:sp>
      <p:sp>
        <p:nvSpPr>
          <p:cNvPr id="7" name="Text 3"/>
          <p:cNvSpPr/>
          <p:nvPr/>
        </p:nvSpPr>
        <p:spPr>
          <a:xfrm>
            <a:off x="6479381" y="1050131"/>
            <a:ext cx="2078831" cy="214313"/>
          </a:xfrm>
          <a:prstGeom prst="rect">
            <a:avLst/>
          </a:prstGeom>
          <a:noFill/>
          <a:ln/>
        </p:spPr>
        <p:txBody>
          <a:bodyPr wrap="none" lIns="0" tIns="0" rIns="0" bIns="0" rtlCol="0" anchor="ctr">
            <a:spAutoFit/>
          </a:bodyPr>
          <a:lstStyle/>
          <a:p>
            <a:pPr indent="0" marL="0">
              <a:buNone/>
            </a:pPr>
            <a:r>
              <a:rPr lang="en-US" sz="1046" b="1" dirty="0">
                <a:solidFill>
                  <a:srgbClr val="00D4FF"/>
                </a:solidFill>
                <a:latin typeface="Noto Sans" pitchFamily="34" charset="0"/>
                <a:ea typeface="Noto Sans" pitchFamily="34" charset="-122"/>
                <a:cs typeface="Noto Sans" pitchFamily="34" charset="-120"/>
              </a:rPr>
              <a:t>Descripción</a:t>
            </a:r>
            <a:endParaRPr lang="en-US" sz="1046" dirty="0"/>
          </a:p>
        </p:txBody>
      </p:sp>
      <p:sp>
        <p:nvSpPr>
          <p:cNvPr id="8" name="Text 4"/>
          <p:cNvSpPr/>
          <p:nvPr/>
        </p:nvSpPr>
        <p:spPr>
          <a:xfrm>
            <a:off x="6479381" y="1350169"/>
            <a:ext cx="2078831" cy="1280043"/>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Costos relacionados al equipo de Epical, permitiendo visualizar la facturación, las horas de Asana, horas facturadas y valor hora promedio de cada integrante del equipo. Esta vista facilita el análisis de eficiencia y rentabilidad de cada miembro. </a:t>
            </a:r>
            <a:endParaRPr lang="en-US" sz="837" dirty="0"/>
          </a:p>
        </p:txBody>
      </p:sp>
      <p:sp>
        <p:nvSpPr>
          <p:cNvPr id="9" name="Shape 5"/>
          <p:cNvSpPr/>
          <p:nvPr/>
        </p:nvSpPr>
        <p:spPr>
          <a:xfrm>
            <a:off x="6322219" y="2930249"/>
            <a:ext cx="2393156" cy="1228725"/>
          </a:xfrm>
          <a:prstGeom prst="rect">
            <a:avLst/>
          </a:prstGeom>
          <a:solidFill>
            <a:srgbClr val="000000">
              <a:alpha val="25000"/>
            </a:srgbClr>
          </a:solidFill>
          <a:ln w="298">
            <a:solidFill>
              <a:srgbClr val="0066FF"/>
            </a:solidFill>
            <a:prstDash val="solid"/>
          </a:ln>
        </p:spPr>
      </p:sp>
      <p:sp>
        <p:nvSpPr>
          <p:cNvPr id="10" name="Text 6"/>
          <p:cNvSpPr/>
          <p:nvPr/>
        </p:nvSpPr>
        <p:spPr>
          <a:xfrm>
            <a:off x="6465094" y="3073124"/>
            <a:ext cx="2107406" cy="192881"/>
          </a:xfrm>
          <a:prstGeom prst="rect">
            <a:avLst/>
          </a:prstGeom>
          <a:noFill/>
          <a:ln/>
        </p:spPr>
        <p:txBody>
          <a:bodyPr wrap="none" lIns="0" tIns="0" rIns="0" bIns="0" rtlCol="0" anchor="ctr">
            <a:spAutoFit/>
          </a:bodyPr>
          <a:lstStyle/>
          <a:p>
            <a:pPr indent="0" marL="0">
              <a:buNone/>
            </a:pPr>
            <a:r>
              <a:rPr lang="en-US" sz="942" b="1" dirty="0">
                <a:solidFill>
                  <a:srgbClr val="FFFFFF"/>
                </a:solidFill>
                <a:latin typeface="Noto Sans" pitchFamily="34" charset="0"/>
                <a:ea typeface="Noto Sans" pitchFamily="34" charset="-122"/>
                <a:cs typeface="Noto Sans" pitchFamily="34" charset="-120"/>
              </a:rPr>
              <a:t>Filtros Disponibles</a:t>
            </a:r>
            <a:endParaRPr lang="en-US" sz="942" dirty="0"/>
          </a:p>
        </p:txBody>
      </p:sp>
      <p:sp>
        <p:nvSpPr>
          <p:cNvPr id="11" name="Shape 7"/>
          <p:cNvSpPr/>
          <p:nvPr/>
        </p:nvSpPr>
        <p:spPr>
          <a:xfrm>
            <a:off x="6465094" y="3366018"/>
            <a:ext cx="437917" cy="278606"/>
          </a:xfrm>
          <a:prstGeom prst="rect">
            <a:avLst/>
          </a:prstGeom>
          <a:solidFill>
            <a:srgbClr val="0066FF">
              <a:alpha val="20000"/>
            </a:srgbClr>
          </a:solidFill>
          <a:ln w="99">
            <a:solidFill>
              <a:srgbClr val="0066FF"/>
            </a:solidFill>
            <a:prstDash val="solid"/>
          </a:ln>
        </p:spPr>
      </p:sp>
      <p:sp>
        <p:nvSpPr>
          <p:cNvPr id="12" name="Text 8"/>
          <p:cNvSpPr/>
          <p:nvPr/>
        </p:nvSpPr>
        <p:spPr>
          <a:xfrm>
            <a:off x="6465094" y="3366018"/>
            <a:ext cx="437917" cy="278606"/>
          </a:xfrm>
          <a:prstGeom prst="rect">
            <a:avLst/>
          </a:prstGeom>
          <a:noFill/>
          <a:ln/>
        </p:spPr>
        <p:txBody>
          <a:bodyPr wrap="square" lIns="136017" tIns="68072" rIns="136017" bIns="68072"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Mes</a:t>
            </a:r>
            <a:endParaRPr lang="en-US" sz="732" dirty="0"/>
          </a:p>
        </p:txBody>
      </p:sp>
      <p:sp>
        <p:nvSpPr>
          <p:cNvPr id="13" name="Shape 9"/>
          <p:cNvSpPr/>
          <p:nvPr/>
        </p:nvSpPr>
        <p:spPr>
          <a:xfrm>
            <a:off x="6960161" y="3366018"/>
            <a:ext cx="429127" cy="278606"/>
          </a:xfrm>
          <a:prstGeom prst="rect">
            <a:avLst/>
          </a:prstGeom>
          <a:solidFill>
            <a:srgbClr val="0066FF">
              <a:alpha val="20000"/>
            </a:srgbClr>
          </a:solidFill>
          <a:ln w="99">
            <a:solidFill>
              <a:srgbClr val="0066FF"/>
            </a:solidFill>
            <a:prstDash val="solid"/>
          </a:ln>
        </p:spPr>
      </p:sp>
      <p:sp>
        <p:nvSpPr>
          <p:cNvPr id="14" name="Text 10"/>
          <p:cNvSpPr/>
          <p:nvPr/>
        </p:nvSpPr>
        <p:spPr>
          <a:xfrm>
            <a:off x="6960161" y="3366018"/>
            <a:ext cx="429127" cy="278606"/>
          </a:xfrm>
          <a:prstGeom prst="rect">
            <a:avLst/>
          </a:prstGeom>
          <a:noFill/>
          <a:ln/>
        </p:spPr>
        <p:txBody>
          <a:bodyPr wrap="square" lIns="136017" tIns="68072" rIns="136017" bIns="68072"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Año</a:t>
            </a:r>
            <a:endParaRPr lang="en-US" sz="732" dirty="0"/>
          </a:p>
        </p:txBody>
      </p:sp>
      <p:sp>
        <p:nvSpPr>
          <p:cNvPr id="15" name="Shape 11"/>
          <p:cNvSpPr/>
          <p:nvPr/>
        </p:nvSpPr>
        <p:spPr>
          <a:xfrm>
            <a:off x="7446439" y="3366018"/>
            <a:ext cx="568430" cy="278606"/>
          </a:xfrm>
          <a:prstGeom prst="rect">
            <a:avLst/>
          </a:prstGeom>
          <a:solidFill>
            <a:srgbClr val="0066FF">
              <a:alpha val="20000"/>
            </a:srgbClr>
          </a:solidFill>
          <a:ln w="99">
            <a:solidFill>
              <a:srgbClr val="0066FF"/>
            </a:solidFill>
            <a:prstDash val="solid"/>
          </a:ln>
        </p:spPr>
      </p:sp>
      <p:sp>
        <p:nvSpPr>
          <p:cNvPr id="16" name="Text 12"/>
          <p:cNvSpPr/>
          <p:nvPr/>
        </p:nvSpPr>
        <p:spPr>
          <a:xfrm>
            <a:off x="7446439" y="3366018"/>
            <a:ext cx="568430" cy="278606"/>
          </a:xfrm>
          <a:prstGeom prst="rect">
            <a:avLst/>
          </a:prstGeom>
          <a:noFill/>
          <a:ln/>
        </p:spPr>
        <p:txBody>
          <a:bodyPr wrap="square" lIns="136017" tIns="68072" rIns="136017" bIns="68072"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Cliente</a:t>
            </a:r>
            <a:endParaRPr lang="en-US" sz="732" dirty="0"/>
          </a:p>
        </p:txBody>
      </p:sp>
      <p:sp>
        <p:nvSpPr>
          <p:cNvPr id="17" name="Shape 13"/>
          <p:cNvSpPr/>
          <p:nvPr/>
        </p:nvSpPr>
        <p:spPr>
          <a:xfrm>
            <a:off x="6465094" y="3701774"/>
            <a:ext cx="1678391" cy="278606"/>
          </a:xfrm>
          <a:prstGeom prst="rect">
            <a:avLst/>
          </a:prstGeom>
          <a:solidFill>
            <a:srgbClr val="0066FF">
              <a:alpha val="20000"/>
            </a:srgbClr>
          </a:solidFill>
          <a:ln w="99">
            <a:solidFill>
              <a:srgbClr val="0066FF"/>
            </a:solidFill>
            <a:prstDash val="solid"/>
          </a:ln>
        </p:spPr>
      </p:sp>
      <p:sp>
        <p:nvSpPr>
          <p:cNvPr id="18" name="Text 14"/>
          <p:cNvSpPr/>
          <p:nvPr/>
        </p:nvSpPr>
        <p:spPr>
          <a:xfrm>
            <a:off x="6465094" y="3701774"/>
            <a:ext cx="1678391" cy="278606"/>
          </a:xfrm>
          <a:prstGeom prst="rect">
            <a:avLst/>
          </a:prstGeom>
          <a:noFill/>
          <a:ln/>
        </p:spPr>
        <p:txBody>
          <a:bodyPr wrap="square" lIns="136017" tIns="68072" rIns="136017" bIns="68072" rtlCol="0" anchor="ctr">
            <a:spAutoFit/>
          </a:bodyPr>
          <a:lstStyle/>
          <a:p>
            <a:pPr indent="0" marL="0">
              <a:buNone/>
            </a:pPr>
            <a:r>
              <a:rPr lang="en-US" sz="732" dirty="0">
                <a:solidFill>
                  <a:srgbClr val="FFFFFF"/>
                </a:solidFill>
                <a:latin typeface="Noto Sans" pitchFamily="34" charset="0"/>
                <a:ea typeface="Noto Sans" pitchFamily="34" charset="-122"/>
                <a:cs typeface="Noto Sans" pitchFamily="34" charset="-120"/>
              </a:rPr>
              <a:t>Integrante del equipo (Equipo)</a:t>
            </a:r>
            <a:endParaRPr lang="en-US" sz="732" dirty="0"/>
          </a:p>
        </p:txBody>
      </p:sp>
      <p:sp>
        <p:nvSpPr>
          <p:cNvPr id="19" name="Shape 15"/>
          <p:cNvSpPr/>
          <p:nvPr/>
        </p:nvSpPr>
        <p:spPr>
          <a:xfrm>
            <a:off x="6322219" y="4251843"/>
            <a:ext cx="2393156" cy="700088"/>
          </a:xfrm>
          <a:prstGeom prst="rect">
            <a:avLst/>
          </a:prstGeom>
          <a:solidFill>
            <a:srgbClr val="FFFFFF">
              <a:alpha val="3000"/>
            </a:srgbClr>
          </a:solidFill>
          <a:ln/>
        </p:spPr>
      </p:sp>
      <p:sp>
        <p:nvSpPr>
          <p:cNvPr id="20" name="Text 16"/>
          <p:cNvSpPr/>
          <p:nvPr/>
        </p:nvSpPr>
        <p:spPr>
          <a:xfrm>
            <a:off x="6465094" y="4394718"/>
            <a:ext cx="2107406" cy="171450"/>
          </a:xfrm>
          <a:prstGeom prst="rect">
            <a:avLst/>
          </a:prstGeom>
          <a:noFill/>
          <a:ln/>
        </p:spPr>
        <p:txBody>
          <a:bodyPr wrap="none" lIns="0" tIns="0" rIns="0" bIns="0" rtlCol="0" anchor="ctr">
            <a:spAutoFit/>
          </a:bodyPr>
          <a:lstStyle/>
          <a:p>
            <a:pPr indent="0" marL="0">
              <a:buNone/>
            </a:pPr>
            <a:r>
              <a:rPr lang="en-US" sz="837" b="1" dirty="0">
                <a:solidFill>
                  <a:srgbClr val="00D4FF"/>
                </a:solidFill>
                <a:latin typeface="Noto Sans" pitchFamily="34" charset="0"/>
                <a:ea typeface="Noto Sans" pitchFamily="34" charset="-122"/>
                <a:cs typeface="Noto Sans" pitchFamily="34" charset="-120"/>
              </a:rPr>
              <a:t>Fuente de Datos</a:t>
            </a:r>
            <a:endParaRPr lang="en-US" sz="837" dirty="0"/>
          </a:p>
        </p:txBody>
      </p:sp>
      <p:sp>
        <p:nvSpPr>
          <p:cNvPr id="21" name="Text 17"/>
          <p:cNvSpPr/>
          <p:nvPr/>
        </p:nvSpPr>
        <p:spPr>
          <a:xfrm>
            <a:off x="6465094" y="4637605"/>
            <a:ext cx="2107406" cy="171450"/>
          </a:xfrm>
          <a:prstGeom prst="rect">
            <a:avLst/>
          </a:prstGeom>
          <a:noFill/>
          <a:ln/>
        </p:spPr>
        <p:txBody>
          <a:bodyPr wrap="non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 Costos directos e indirectos </a:t>
            </a:r>
            <a:endParaRPr lang="en-US" sz="78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72823"/>
          </a:xfrm>
          <a:prstGeom prst="rect">
            <a:avLst/>
          </a:prstGeom>
        </p:spPr>
      </p:pic>
      <p:sp>
        <p:nvSpPr>
          <p:cNvPr id="3" name="Text 0"/>
          <p:cNvSpPr/>
          <p:nvPr/>
        </p:nvSpPr>
        <p:spPr>
          <a:xfrm>
            <a:off x="428625" y="285750"/>
            <a:ext cx="8286750" cy="385763"/>
          </a:xfrm>
          <a:prstGeom prst="rect">
            <a:avLst/>
          </a:prstGeom>
          <a:noFill/>
          <a:ln/>
        </p:spPr>
        <p:txBody>
          <a:bodyPr wrap="none" lIns="0" tIns="0" rIns="0" bIns="0" rtlCol="0" anchor="ctr">
            <a:spAutoFit/>
          </a:bodyPr>
          <a:lstStyle/>
          <a:p>
            <a:pPr indent="0" marL="0">
              <a:buNone/>
            </a:pPr>
            <a:r>
              <a:rPr lang="en-US" sz="2025" b="1" dirty="0">
                <a:solidFill>
                  <a:srgbClr val="FFFFFF"/>
                </a:solidFill>
                <a:latin typeface="Noto Sans" pitchFamily="34" charset="0"/>
                <a:ea typeface="Noto Sans" pitchFamily="34" charset="-122"/>
                <a:cs typeface="Noto Sans" pitchFamily="34" charset="-120"/>
              </a:rPr>
              <a:t>Rendimiento de Cliente</a:t>
            </a:r>
            <a:endParaRPr lang="en-US" sz="2025" dirty="0"/>
          </a:p>
        </p:txBody>
      </p:sp>
      <p:sp>
        <p:nvSpPr>
          <p:cNvPr id="4" name="Shape 1"/>
          <p:cNvSpPr/>
          <p:nvPr/>
        </p:nvSpPr>
        <p:spPr>
          <a:xfrm>
            <a:off x="428625" y="728663"/>
            <a:ext cx="571500" cy="21431"/>
          </a:xfrm>
          <a:prstGeom prst="rect">
            <a:avLst/>
          </a:prstGeom>
          <a:solidFill>
            <a:srgbClr val="00D4FF"/>
          </a:solidFill>
          <a:ln/>
        </p:spPr>
      </p:sp>
      <p:sp>
        <p:nvSpPr>
          <p:cNvPr id="5" name="Shape 2"/>
          <p:cNvSpPr/>
          <p:nvPr/>
        </p:nvSpPr>
        <p:spPr>
          <a:xfrm>
            <a:off x="428625" y="892969"/>
            <a:ext cx="2571750" cy="2465291"/>
          </a:xfrm>
          <a:prstGeom prst="rect">
            <a:avLst/>
          </a:prstGeom>
          <a:solidFill>
            <a:srgbClr val="00D4FF">
              <a:alpha val="4000"/>
            </a:srgbClr>
          </a:solidFill>
          <a:ln w="198">
            <a:solidFill>
              <a:srgbClr val="0066FF"/>
            </a:solidFill>
            <a:prstDash val="solid"/>
          </a:ln>
        </p:spPr>
      </p:sp>
      <p:sp>
        <p:nvSpPr>
          <p:cNvPr id="6" name="Text 3"/>
          <p:cNvSpPr/>
          <p:nvPr/>
        </p:nvSpPr>
        <p:spPr>
          <a:xfrm>
            <a:off x="600075" y="1035844"/>
            <a:ext cx="2228850" cy="192881"/>
          </a:xfrm>
          <a:prstGeom prst="rect">
            <a:avLst/>
          </a:prstGeom>
          <a:noFill/>
          <a:ln/>
        </p:spPr>
        <p:txBody>
          <a:bodyPr wrap="none" lIns="0" tIns="0" rIns="0" bIns="0" rtlCol="0" anchor="ctr">
            <a:spAutoFit/>
          </a:bodyPr>
          <a:lstStyle/>
          <a:p>
            <a:pPr indent="0" marL="0">
              <a:buNone/>
            </a:pPr>
            <a:r>
              <a:rPr lang="en-US" sz="942" b="1" dirty="0">
                <a:solidFill>
                  <a:srgbClr val="00D4FF"/>
                </a:solidFill>
                <a:latin typeface="Noto Sans" pitchFamily="34" charset="0"/>
                <a:ea typeface="Noto Sans" pitchFamily="34" charset="-122"/>
                <a:cs typeface="Noto Sans" pitchFamily="34" charset="-120"/>
              </a:rPr>
              <a:t>Descripción</a:t>
            </a:r>
            <a:endParaRPr lang="en-US" sz="942" dirty="0"/>
          </a:p>
        </p:txBody>
      </p:sp>
      <p:sp>
        <p:nvSpPr>
          <p:cNvPr id="7" name="Text 4"/>
          <p:cNvSpPr/>
          <p:nvPr/>
        </p:nvSpPr>
        <p:spPr>
          <a:xfrm>
            <a:off x="600075" y="1314450"/>
            <a:ext cx="2228850" cy="582913"/>
          </a:xfrm>
          <a:prstGeom prst="rect">
            <a:avLst/>
          </a:prstGeom>
          <a:noFill/>
          <a:ln/>
        </p:spPr>
        <p:txBody>
          <a:bodyPr wrap="square" lIns="0" tIns="0" rIns="0" bIns="0" rtlCol="0" anchor="ctr">
            <a:spAutoFit/>
          </a:bodyPr>
          <a:lstStyle/>
          <a:p>
            <a:pPr indent="0" marL="0">
              <a:buNone/>
            </a:pPr>
            <a:r>
              <a:rPr lang="en-US" sz="837" dirty="0">
                <a:solidFill>
                  <a:srgbClr val="E8E8E8"/>
                </a:solidFill>
                <a:latin typeface="Noto Sans" pitchFamily="34" charset="0"/>
                <a:ea typeface="Noto Sans" pitchFamily="34" charset="-122"/>
                <a:cs typeface="Noto Sans" pitchFamily="34" charset="-120"/>
              </a:rPr>
              <a:t> Análisis completo del rendimiento de todos los proyectos, incluyendo las siguientes métricas clave: </a:t>
            </a:r>
            <a:endParaRPr lang="en-US" sz="837" dirty="0"/>
          </a:p>
        </p:txBody>
      </p:sp>
      <p:sp>
        <p:nvSpPr>
          <p:cNvPr id="8" name="Text 5"/>
          <p:cNvSpPr/>
          <p:nvPr/>
        </p:nvSpPr>
        <p:spPr>
          <a:xfrm>
            <a:off x="600075" y="1968801"/>
            <a:ext cx="2228850" cy="246459"/>
          </a:xfrm>
          <a:prstGeom prst="rect">
            <a:avLst/>
          </a:prstGeom>
          <a:noFill/>
          <a:ln/>
        </p:spPr>
        <p:txBody>
          <a:bodyPr wrap="square" lIns="170053" tIns="51054" rIns="0" bIns="51054"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Facturación</a:t>
            </a:r>
            <a:endParaRPr lang="en-US" sz="785" dirty="0"/>
          </a:p>
        </p:txBody>
      </p:sp>
      <p:sp>
        <p:nvSpPr>
          <p:cNvPr id="9" name="Text 6"/>
          <p:cNvSpPr/>
          <p:nvPr/>
        </p:nvSpPr>
        <p:spPr>
          <a:xfrm>
            <a:off x="600075" y="2215260"/>
            <a:ext cx="2228850" cy="246459"/>
          </a:xfrm>
          <a:prstGeom prst="rect">
            <a:avLst/>
          </a:prstGeom>
          <a:noFill/>
          <a:ln/>
        </p:spPr>
        <p:txBody>
          <a:bodyPr wrap="square" lIns="170053" tIns="51054" rIns="0" bIns="51054"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Costos</a:t>
            </a:r>
            <a:endParaRPr lang="en-US" sz="785" dirty="0"/>
          </a:p>
        </p:txBody>
      </p:sp>
      <p:sp>
        <p:nvSpPr>
          <p:cNvPr id="10" name="Text 7"/>
          <p:cNvSpPr/>
          <p:nvPr/>
        </p:nvSpPr>
        <p:spPr>
          <a:xfrm>
            <a:off x="600075" y="2461720"/>
            <a:ext cx="2228850" cy="246459"/>
          </a:xfrm>
          <a:prstGeom prst="rect">
            <a:avLst/>
          </a:prstGeom>
          <a:noFill/>
          <a:ln/>
        </p:spPr>
        <p:txBody>
          <a:bodyPr wrap="square" lIns="170053" tIns="51054" rIns="0" bIns="51054"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Markup</a:t>
            </a:r>
            <a:endParaRPr lang="en-US" sz="785" dirty="0"/>
          </a:p>
        </p:txBody>
      </p:sp>
      <p:sp>
        <p:nvSpPr>
          <p:cNvPr id="11" name="Text 8"/>
          <p:cNvSpPr/>
          <p:nvPr/>
        </p:nvSpPr>
        <p:spPr>
          <a:xfrm>
            <a:off x="600075" y="2708179"/>
            <a:ext cx="2228850" cy="246459"/>
          </a:xfrm>
          <a:prstGeom prst="rect">
            <a:avLst/>
          </a:prstGeom>
          <a:noFill/>
          <a:ln/>
        </p:spPr>
        <p:txBody>
          <a:bodyPr wrap="square" lIns="170053" tIns="51054" rIns="0" bIns="51054"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Margen operativo</a:t>
            </a:r>
            <a:endParaRPr lang="en-US" sz="785" dirty="0"/>
          </a:p>
        </p:txBody>
      </p:sp>
      <p:sp>
        <p:nvSpPr>
          <p:cNvPr id="12" name="Text 9"/>
          <p:cNvSpPr/>
          <p:nvPr/>
        </p:nvSpPr>
        <p:spPr>
          <a:xfrm>
            <a:off x="600075" y="2954638"/>
            <a:ext cx="2228850" cy="246459"/>
          </a:xfrm>
          <a:prstGeom prst="rect">
            <a:avLst/>
          </a:prstGeom>
          <a:noFill/>
          <a:ln/>
        </p:spPr>
        <p:txBody>
          <a:bodyPr wrap="square" lIns="170053" tIns="51054" rIns="0" bIns="51054" rtlCol="0" anchor="ctr">
            <a:spAutoFit/>
          </a:bodyPr>
          <a:lstStyle/>
          <a:p>
            <a:pPr algn="l" indent="0" marL="0">
              <a:buNone/>
            </a:pPr>
            <a:r>
              <a:rPr lang="en-US" sz="785" dirty="0">
                <a:solidFill>
                  <a:srgbClr val="E8E8E8"/>
                </a:solidFill>
                <a:latin typeface="Noto Sans" pitchFamily="34" charset="0"/>
                <a:ea typeface="Noto Sans" pitchFamily="34" charset="-122"/>
                <a:cs typeface="Noto Sans" pitchFamily="34" charset="-120"/>
              </a:rPr>
              <a:t>Utilidad operativa</a:t>
            </a:r>
            <a:endParaRPr lang="en-US" sz="785" dirty="0"/>
          </a:p>
        </p:txBody>
      </p:sp>
      <p:sp>
        <p:nvSpPr>
          <p:cNvPr id="13" name="Shape 10"/>
          <p:cNvSpPr/>
          <p:nvPr/>
        </p:nvSpPr>
        <p:spPr>
          <a:xfrm>
            <a:off x="428625" y="3472560"/>
            <a:ext cx="2571750" cy="739378"/>
          </a:xfrm>
          <a:prstGeom prst="rect">
            <a:avLst/>
          </a:prstGeom>
          <a:solidFill>
            <a:srgbClr val="000000">
              <a:alpha val="20000"/>
            </a:srgbClr>
          </a:solidFill>
          <a:ln/>
        </p:spPr>
      </p:sp>
      <p:sp>
        <p:nvSpPr>
          <p:cNvPr id="14" name="Shape 11"/>
          <p:cNvSpPr/>
          <p:nvPr/>
        </p:nvSpPr>
        <p:spPr>
          <a:xfrm>
            <a:off x="428625" y="3472560"/>
            <a:ext cx="28575" cy="739378"/>
          </a:xfrm>
          <a:prstGeom prst="rect">
            <a:avLst/>
          </a:prstGeom>
          <a:solidFill>
            <a:srgbClr val="00D4FF"/>
          </a:solidFill>
          <a:ln/>
        </p:spPr>
      </p:sp>
      <p:sp>
        <p:nvSpPr>
          <p:cNvPr id="15" name="Text 12"/>
          <p:cNvSpPr/>
          <p:nvPr/>
        </p:nvSpPr>
        <p:spPr>
          <a:xfrm>
            <a:off x="585788" y="3601148"/>
            <a:ext cx="2257425" cy="171450"/>
          </a:xfrm>
          <a:prstGeom prst="rect">
            <a:avLst/>
          </a:prstGeom>
          <a:noFill/>
          <a:ln/>
        </p:spPr>
        <p:txBody>
          <a:bodyPr wrap="none" lIns="0" tIns="0" rIns="0" bIns="0" rtlCol="0" anchor="ctr">
            <a:spAutoFit/>
          </a:bodyPr>
          <a:lstStyle/>
          <a:p>
            <a:pPr indent="0" marL="0">
              <a:buNone/>
            </a:pPr>
            <a:r>
              <a:rPr lang="en-US" sz="837" b="1" dirty="0">
                <a:solidFill>
                  <a:srgbClr val="FFFFFF"/>
                </a:solidFill>
                <a:latin typeface="Noto Sans" pitchFamily="34" charset="0"/>
                <a:ea typeface="Noto Sans" pitchFamily="34" charset="-122"/>
                <a:cs typeface="Noto Sans" pitchFamily="34" charset="-120"/>
              </a:rPr>
              <a:t>Filtros Disponibles</a:t>
            </a:r>
            <a:endParaRPr lang="en-US" sz="837" dirty="0"/>
          </a:p>
        </p:txBody>
      </p:sp>
      <p:sp>
        <p:nvSpPr>
          <p:cNvPr id="16" name="Shape 13"/>
          <p:cNvSpPr/>
          <p:nvPr/>
        </p:nvSpPr>
        <p:spPr>
          <a:xfrm>
            <a:off x="585788" y="3844035"/>
            <a:ext cx="395418" cy="239316"/>
          </a:xfrm>
          <a:prstGeom prst="rect">
            <a:avLst/>
          </a:prstGeom>
          <a:solidFill>
            <a:srgbClr val="0066FF">
              <a:alpha val="20000"/>
            </a:srgbClr>
          </a:solidFill>
          <a:ln w="99">
            <a:solidFill>
              <a:srgbClr val="0066FF"/>
            </a:solidFill>
            <a:prstDash val="solid"/>
          </a:ln>
        </p:spPr>
      </p:sp>
      <p:sp>
        <p:nvSpPr>
          <p:cNvPr id="17" name="Text 14"/>
          <p:cNvSpPr/>
          <p:nvPr/>
        </p:nvSpPr>
        <p:spPr>
          <a:xfrm>
            <a:off x="585788" y="3844035"/>
            <a:ext cx="395418" cy="239316"/>
          </a:xfrm>
          <a:prstGeom prst="rect">
            <a:avLst/>
          </a:prstGeom>
          <a:noFill/>
          <a:ln/>
        </p:spPr>
        <p:txBody>
          <a:bodyPr wrap="square" lIns="119126" tIns="51054" rIns="119126"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Mes</a:t>
            </a:r>
            <a:endParaRPr lang="en-US" sz="680" dirty="0"/>
          </a:p>
        </p:txBody>
      </p:sp>
      <p:sp>
        <p:nvSpPr>
          <p:cNvPr id="18" name="Shape 15"/>
          <p:cNvSpPr/>
          <p:nvPr/>
        </p:nvSpPr>
        <p:spPr>
          <a:xfrm>
            <a:off x="1024068" y="3844035"/>
            <a:ext cx="387241" cy="239316"/>
          </a:xfrm>
          <a:prstGeom prst="rect">
            <a:avLst/>
          </a:prstGeom>
          <a:solidFill>
            <a:srgbClr val="0066FF">
              <a:alpha val="20000"/>
            </a:srgbClr>
          </a:solidFill>
          <a:ln w="99">
            <a:solidFill>
              <a:srgbClr val="0066FF"/>
            </a:solidFill>
            <a:prstDash val="solid"/>
          </a:ln>
        </p:spPr>
      </p:sp>
      <p:sp>
        <p:nvSpPr>
          <p:cNvPr id="19" name="Text 16"/>
          <p:cNvSpPr/>
          <p:nvPr/>
        </p:nvSpPr>
        <p:spPr>
          <a:xfrm>
            <a:off x="1024068" y="3844035"/>
            <a:ext cx="387241" cy="239316"/>
          </a:xfrm>
          <a:prstGeom prst="rect">
            <a:avLst/>
          </a:prstGeom>
          <a:noFill/>
          <a:ln/>
        </p:spPr>
        <p:txBody>
          <a:bodyPr wrap="square" lIns="119126" tIns="51054" rIns="119126"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Año</a:t>
            </a:r>
            <a:endParaRPr lang="en-US" sz="680" dirty="0"/>
          </a:p>
        </p:txBody>
      </p:sp>
      <p:sp>
        <p:nvSpPr>
          <p:cNvPr id="20" name="Shape 17"/>
          <p:cNvSpPr/>
          <p:nvPr/>
        </p:nvSpPr>
        <p:spPr>
          <a:xfrm>
            <a:off x="1454172" y="3844035"/>
            <a:ext cx="516610" cy="239316"/>
          </a:xfrm>
          <a:prstGeom prst="rect">
            <a:avLst/>
          </a:prstGeom>
          <a:solidFill>
            <a:srgbClr val="0066FF">
              <a:alpha val="20000"/>
            </a:srgbClr>
          </a:solidFill>
          <a:ln w="99">
            <a:solidFill>
              <a:srgbClr val="0066FF"/>
            </a:solidFill>
            <a:prstDash val="solid"/>
          </a:ln>
        </p:spPr>
      </p:sp>
      <p:sp>
        <p:nvSpPr>
          <p:cNvPr id="21" name="Text 18"/>
          <p:cNvSpPr/>
          <p:nvPr/>
        </p:nvSpPr>
        <p:spPr>
          <a:xfrm>
            <a:off x="1454172" y="3844035"/>
            <a:ext cx="516610" cy="239316"/>
          </a:xfrm>
          <a:prstGeom prst="rect">
            <a:avLst/>
          </a:prstGeom>
          <a:noFill/>
          <a:ln/>
        </p:spPr>
        <p:txBody>
          <a:bodyPr wrap="square" lIns="119126" tIns="51054" rIns="119126" bIns="51054" rtlCol="0" anchor="ctr">
            <a:spAutoFit/>
          </a:bodyPr>
          <a:lstStyle/>
          <a:p>
            <a:pPr indent="0" marL="0">
              <a:buNone/>
            </a:pPr>
            <a:r>
              <a:rPr lang="en-US" sz="680" dirty="0">
                <a:solidFill>
                  <a:srgbClr val="FFFFFF"/>
                </a:solidFill>
                <a:latin typeface="Noto Sans" pitchFamily="34" charset="0"/>
                <a:ea typeface="Noto Sans" pitchFamily="34" charset="-122"/>
                <a:cs typeface="Noto Sans" pitchFamily="34" charset="-120"/>
              </a:rPr>
              <a:t>Cliente</a:t>
            </a:r>
            <a:endParaRPr lang="en-US" sz="680" dirty="0"/>
          </a:p>
        </p:txBody>
      </p:sp>
      <p:sp>
        <p:nvSpPr>
          <p:cNvPr id="22" name="Shape 19"/>
          <p:cNvSpPr/>
          <p:nvPr/>
        </p:nvSpPr>
        <p:spPr>
          <a:xfrm>
            <a:off x="428625" y="4326238"/>
            <a:ext cx="2571750" cy="932259"/>
          </a:xfrm>
          <a:prstGeom prst="rect">
            <a:avLst/>
          </a:prstGeom>
          <a:solidFill>
            <a:srgbClr val="FFFFFF">
              <a:alpha val="3000"/>
            </a:srgbClr>
          </a:solidFill>
          <a:ln/>
        </p:spPr>
      </p:sp>
      <p:sp>
        <p:nvSpPr>
          <p:cNvPr id="23" name="Text 20"/>
          <p:cNvSpPr/>
          <p:nvPr/>
        </p:nvSpPr>
        <p:spPr>
          <a:xfrm>
            <a:off x="585788" y="4454826"/>
            <a:ext cx="2257425" cy="150019"/>
          </a:xfrm>
          <a:prstGeom prst="rect">
            <a:avLst/>
          </a:prstGeom>
          <a:noFill/>
          <a:ln/>
        </p:spPr>
        <p:txBody>
          <a:bodyPr wrap="none" lIns="0" tIns="0" rIns="0" bIns="0" rtlCol="0" anchor="ctr">
            <a:spAutoFit/>
          </a:bodyPr>
          <a:lstStyle/>
          <a:p>
            <a:pPr indent="0" marL="0">
              <a:buNone/>
            </a:pPr>
            <a:r>
              <a:rPr lang="en-US" sz="732" b="1" dirty="0">
                <a:solidFill>
                  <a:srgbClr val="0066FF"/>
                </a:solidFill>
                <a:latin typeface="Noto Sans" pitchFamily="34" charset="0"/>
                <a:ea typeface="Noto Sans" pitchFamily="34" charset="-122"/>
                <a:cs typeface="Noto Sans" pitchFamily="34" charset="-120"/>
              </a:rPr>
              <a:t>FUENTE DE DATOS</a:t>
            </a:r>
            <a:endParaRPr lang="en-US" sz="732" dirty="0"/>
          </a:p>
        </p:txBody>
      </p:sp>
      <p:sp>
        <p:nvSpPr>
          <p:cNvPr id="24" name="Text 21"/>
          <p:cNvSpPr/>
          <p:nvPr/>
        </p:nvSpPr>
        <p:spPr>
          <a:xfrm>
            <a:off x="585788" y="4647707"/>
            <a:ext cx="2257425" cy="482203"/>
          </a:xfrm>
          <a:prstGeom prst="rect">
            <a:avLst/>
          </a:prstGeom>
          <a:noFill/>
          <a:ln/>
        </p:spPr>
        <p:txBody>
          <a:bodyPr wrap="square" lIns="0" tIns="0" rIns="0" bIns="0" rtlCol="0" anchor="ctr">
            <a:spAutoFit/>
          </a:bodyPr>
          <a:lstStyle/>
          <a:p>
            <a:pPr indent="0" marL="0">
              <a:buNone/>
            </a:pPr>
            <a:r>
              <a:rPr lang="en-US" sz="785" dirty="0">
                <a:solidFill>
                  <a:srgbClr val="E8E8E8"/>
                </a:solidFill>
                <a:latin typeface="Noto Sans" pitchFamily="34" charset="0"/>
                <a:ea typeface="Noto Sans" pitchFamily="34" charset="-122"/>
                <a:cs typeface="Noto Sans" pitchFamily="34" charset="-120"/>
              </a:rPr>
              <a:t> Rendimiento cliente, el cual proviene de los seguimientos de markup de todos los clientes. </a:t>
            </a:r>
            <a:endParaRPr lang="en-US" sz="785" dirty="0"/>
          </a:p>
        </p:txBody>
      </p:sp>
      <p:sp>
        <p:nvSpPr>
          <p:cNvPr id="25" name="Shape 22"/>
          <p:cNvSpPr/>
          <p:nvPr/>
        </p:nvSpPr>
        <p:spPr>
          <a:xfrm>
            <a:off x="3214688" y="892969"/>
            <a:ext cx="5500688" cy="4143375"/>
          </a:xfrm>
          <a:prstGeom prst="rect">
            <a:avLst/>
          </a:prstGeom>
          <a:solidFill>
            <a:srgbClr val="000000">
              <a:alpha val="15000"/>
            </a:srgbClr>
          </a:solidFill>
          <a:ln w="99">
            <a:solidFill>
              <a:srgbClr val="00D4FF">
                <a:alpha val="20000"/>
              </a:srgbClr>
            </a:solidFill>
            <a:prstDash val="solid"/>
          </a:ln>
        </p:spPr>
      </p:sp>
      <p:pic>
        <p:nvPicPr>
          <p:cNvPr id="26" name="Image 1" descr="preencoded.png">    </p:cNvPr>
          <p:cNvPicPr>
            <a:picLocks noChangeAspect="1"/>
          </p:cNvPicPr>
          <p:nvPr/>
        </p:nvPicPr>
        <p:blipFill>
          <a:blip r:embed="rId2"/>
          <a:stretch>
            <a:fillRect/>
          </a:stretch>
        </p:blipFill>
        <p:spPr>
          <a:xfrm>
            <a:off x="3214688" y="892969"/>
            <a:ext cx="5500688" cy="41433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702080"/>
          </a:xfrm>
          <a:prstGeom prst="rect">
            <a:avLst/>
          </a:prstGeom>
        </p:spPr>
      </p:pic>
      <p:sp>
        <p:nvSpPr>
          <p:cNvPr id="3" name="Text 0"/>
          <p:cNvSpPr/>
          <p:nvPr/>
        </p:nvSpPr>
        <p:spPr>
          <a:xfrm>
            <a:off x="571500" y="357188"/>
            <a:ext cx="8001000" cy="450056"/>
          </a:xfrm>
          <a:prstGeom prst="rect">
            <a:avLst/>
          </a:prstGeom>
          <a:noFill/>
          <a:ln/>
        </p:spPr>
        <p:txBody>
          <a:bodyPr wrap="none" lIns="0" tIns="0" rIns="0" bIns="0" rtlCol="0" anchor="ctr">
            <a:spAutoFit/>
          </a:bodyPr>
          <a:lstStyle/>
          <a:p>
            <a:pPr algn="ctr" indent="0" marL="0">
              <a:buNone/>
            </a:pPr>
            <a:r>
              <a:rPr lang="en-US" sz="2363" b="1" dirty="0">
                <a:solidFill>
                  <a:srgbClr val="FFFFFF"/>
                </a:solidFill>
                <a:latin typeface="Noto Sans" pitchFamily="34" charset="0"/>
                <a:ea typeface="Noto Sans" pitchFamily="34" charset="-122"/>
                <a:cs typeface="Noto Sans" pitchFamily="34" charset="-120"/>
              </a:rPr>
              <a:t>Actualizaciones Manuales</a:t>
            </a:r>
            <a:endParaRPr lang="en-US" sz="2363" dirty="0"/>
          </a:p>
        </p:txBody>
      </p:sp>
      <p:sp>
        <p:nvSpPr>
          <p:cNvPr id="4" name="Shape 1"/>
          <p:cNvSpPr/>
          <p:nvPr/>
        </p:nvSpPr>
        <p:spPr>
          <a:xfrm>
            <a:off x="4143375" y="892969"/>
            <a:ext cx="857250" cy="28575"/>
          </a:xfrm>
          <a:prstGeom prst="rect">
            <a:avLst/>
          </a:prstGeom>
          <a:solidFill>
            <a:srgbClr val="00D4FF"/>
          </a:solidFill>
          <a:ln/>
        </p:spPr>
      </p:sp>
      <p:sp>
        <p:nvSpPr>
          <p:cNvPr id="5" name="Shape 2"/>
          <p:cNvSpPr/>
          <p:nvPr/>
        </p:nvSpPr>
        <p:spPr>
          <a:xfrm>
            <a:off x="642938" y="1207294"/>
            <a:ext cx="3786188" cy="2886047"/>
          </a:xfrm>
          <a:prstGeom prst="rect">
            <a:avLst/>
          </a:prstGeom>
          <a:solidFill>
            <a:srgbClr val="00D4FF">
              <a:alpha val="5000"/>
            </a:srgbClr>
          </a:solidFill>
          <a:ln/>
        </p:spPr>
      </p:sp>
      <p:sp>
        <p:nvSpPr>
          <p:cNvPr id="6" name="Shape 3"/>
          <p:cNvSpPr/>
          <p:nvPr/>
        </p:nvSpPr>
        <p:spPr>
          <a:xfrm>
            <a:off x="642938" y="1207294"/>
            <a:ext cx="28575" cy="2886047"/>
          </a:xfrm>
          <a:prstGeom prst="rect">
            <a:avLst/>
          </a:prstGeom>
          <a:solidFill>
            <a:srgbClr val="0066FF"/>
          </a:solidFill>
          <a:ln/>
        </p:spPr>
      </p:sp>
      <p:pic>
        <p:nvPicPr>
          <p:cNvPr id="7" name="Image 1" descr="preencoded.png">    </p:cNvPr>
          <p:cNvPicPr>
            <a:picLocks noChangeAspect="1"/>
          </p:cNvPicPr>
          <p:nvPr/>
        </p:nvPicPr>
        <p:blipFill>
          <a:blip r:embed="rId2"/>
          <a:stretch>
            <a:fillRect/>
          </a:stretch>
        </p:blipFill>
        <p:spPr>
          <a:xfrm>
            <a:off x="871538" y="1501973"/>
            <a:ext cx="192881" cy="257175"/>
          </a:xfrm>
          <a:prstGeom prst="rect">
            <a:avLst/>
          </a:prstGeom>
        </p:spPr>
      </p:pic>
      <p:sp>
        <p:nvSpPr>
          <p:cNvPr id="8" name="Text 4"/>
          <p:cNvSpPr/>
          <p:nvPr/>
        </p:nvSpPr>
        <p:spPr>
          <a:xfrm>
            <a:off x="871538" y="1964531"/>
            <a:ext cx="3328988" cy="257175"/>
          </a:xfrm>
          <a:prstGeom prst="rect">
            <a:avLst/>
          </a:prstGeom>
          <a:noFill/>
          <a:ln/>
        </p:spPr>
        <p:txBody>
          <a:bodyPr wrap="none" lIns="0" tIns="0" rIns="0" bIns="0" rtlCol="0" anchor="ctr">
            <a:spAutoFit/>
          </a:bodyPr>
          <a:lstStyle/>
          <a:p>
            <a:pPr indent="0" marL="0">
              <a:buNone/>
            </a:pPr>
            <a:r>
              <a:rPr lang="en-US" sz="1350" b="1" dirty="0">
                <a:solidFill>
                  <a:srgbClr val="FFFFFF"/>
                </a:solidFill>
                <a:latin typeface="Noto Sans" pitchFamily="34" charset="0"/>
                <a:ea typeface="Noto Sans" pitchFamily="34" charset="-122"/>
                <a:cs typeface="Noto Sans" pitchFamily="34" charset="-120"/>
              </a:rPr>
              <a:t>Excel</a:t>
            </a:r>
            <a:endParaRPr lang="en-US" sz="1350" dirty="0"/>
          </a:p>
        </p:txBody>
      </p:sp>
      <p:sp>
        <p:nvSpPr>
          <p:cNvPr id="9" name="Text 5"/>
          <p:cNvSpPr/>
          <p:nvPr/>
        </p:nvSpPr>
        <p:spPr>
          <a:xfrm>
            <a:off x="871538" y="2364581"/>
            <a:ext cx="3328988" cy="372898"/>
          </a:xfrm>
          <a:prstGeom prst="rect">
            <a:avLst/>
          </a:prstGeom>
          <a:noFill/>
          <a:ln/>
        </p:spPr>
        <p:txBody>
          <a:bodyPr wrap="square" lIns="238125" tIns="102108" rIns="0" bIns="102108" rtlCol="0" anchor="ctr">
            <a:spAutoFit/>
          </a:bodyPr>
          <a:lstStyle/>
          <a:p>
            <a:pPr algn="l" indent="0" marL="0">
              <a:buNone/>
            </a:pPr>
            <a:r>
              <a:rPr lang="en-US" sz="889" dirty="0">
                <a:solidFill>
                  <a:srgbClr val="E8E8E8"/>
                </a:solidFill>
                <a:latin typeface="Noto Sans" pitchFamily="34" charset="0"/>
                <a:ea typeface="Noto Sans" pitchFamily="34" charset="-122"/>
                <a:cs typeface="Noto Sans" pitchFamily="34" charset="-120"/>
              </a:rPr>
              <a:t>Pasivos [aux]</a:t>
            </a:r>
            <a:endParaRPr lang="en-US" sz="889" dirty="0"/>
          </a:p>
        </p:txBody>
      </p:sp>
      <p:sp>
        <p:nvSpPr>
          <p:cNvPr id="10" name="Text 6"/>
          <p:cNvSpPr/>
          <p:nvPr/>
        </p:nvSpPr>
        <p:spPr>
          <a:xfrm>
            <a:off x="871538" y="2737479"/>
            <a:ext cx="3328988" cy="372898"/>
          </a:xfrm>
          <a:prstGeom prst="rect">
            <a:avLst/>
          </a:prstGeom>
          <a:noFill/>
          <a:ln/>
        </p:spPr>
        <p:txBody>
          <a:bodyPr wrap="square" lIns="238125" tIns="102108" rIns="0" bIns="102108" rtlCol="0" anchor="ctr">
            <a:spAutoFit/>
          </a:bodyPr>
          <a:lstStyle/>
          <a:p>
            <a:pPr algn="l" indent="0" marL="0">
              <a:buNone/>
            </a:pPr>
            <a:r>
              <a:rPr lang="en-US" sz="889" dirty="0">
                <a:solidFill>
                  <a:srgbClr val="E8E8E8"/>
                </a:solidFill>
                <a:latin typeface="Noto Sans" pitchFamily="34" charset="0"/>
                <a:ea typeface="Noto Sans" pitchFamily="34" charset="-122"/>
                <a:cs typeface="Noto Sans" pitchFamily="34" charset="-120"/>
              </a:rPr>
              <a:t>Activos [aux]</a:t>
            </a:r>
            <a:endParaRPr lang="en-US" sz="889" dirty="0"/>
          </a:p>
        </p:txBody>
      </p:sp>
      <p:sp>
        <p:nvSpPr>
          <p:cNvPr id="11" name="Text 7"/>
          <p:cNvSpPr/>
          <p:nvPr/>
        </p:nvSpPr>
        <p:spPr>
          <a:xfrm>
            <a:off x="871538" y="3110378"/>
            <a:ext cx="3328988" cy="372898"/>
          </a:xfrm>
          <a:prstGeom prst="rect">
            <a:avLst/>
          </a:prstGeom>
          <a:noFill/>
          <a:ln/>
        </p:spPr>
        <p:txBody>
          <a:bodyPr wrap="square" lIns="238125" tIns="102108" rIns="0" bIns="102108" rtlCol="0" anchor="ctr">
            <a:spAutoFit/>
          </a:bodyPr>
          <a:lstStyle/>
          <a:p>
            <a:pPr algn="l" indent="0" marL="0">
              <a:buNone/>
            </a:pPr>
            <a:r>
              <a:rPr lang="en-US" sz="889" dirty="0">
                <a:solidFill>
                  <a:srgbClr val="E8E8E8"/>
                </a:solidFill>
                <a:latin typeface="Noto Sans" pitchFamily="34" charset="0"/>
                <a:ea typeface="Noto Sans" pitchFamily="34" charset="-122"/>
                <a:cs typeface="Noto Sans" pitchFamily="34" charset="-120"/>
              </a:rPr>
              <a:t>Proyecciones [aux]</a:t>
            </a:r>
            <a:endParaRPr lang="en-US" sz="889" dirty="0"/>
          </a:p>
        </p:txBody>
      </p:sp>
      <p:sp>
        <p:nvSpPr>
          <p:cNvPr id="12" name="Text 8"/>
          <p:cNvSpPr/>
          <p:nvPr/>
        </p:nvSpPr>
        <p:spPr>
          <a:xfrm>
            <a:off x="871538" y="3483276"/>
            <a:ext cx="3328988" cy="365754"/>
          </a:xfrm>
          <a:prstGeom prst="rect">
            <a:avLst/>
          </a:prstGeom>
          <a:noFill/>
          <a:ln/>
        </p:spPr>
        <p:txBody>
          <a:bodyPr wrap="square" lIns="238125" tIns="102108" rIns="0" bIns="102108" rtlCol="0" anchor="ctr">
            <a:spAutoFit/>
          </a:bodyPr>
          <a:lstStyle/>
          <a:p>
            <a:pPr algn="l" indent="0" marL="0">
              <a:buNone/>
            </a:pPr>
            <a:r>
              <a:rPr lang="en-US" sz="889" dirty="0">
                <a:solidFill>
                  <a:srgbClr val="E8E8E8"/>
                </a:solidFill>
                <a:latin typeface="Noto Sans" pitchFamily="34" charset="0"/>
                <a:ea typeface="Noto Sans" pitchFamily="34" charset="-122"/>
                <a:cs typeface="Noto Sans" pitchFamily="34" charset="-120"/>
              </a:rPr>
              <a:t>Rendimiento Cliente</a:t>
            </a:r>
            <a:endParaRPr lang="en-US" sz="889" dirty="0"/>
          </a:p>
        </p:txBody>
      </p:sp>
      <p:sp>
        <p:nvSpPr>
          <p:cNvPr id="13" name="Shape 9"/>
          <p:cNvSpPr/>
          <p:nvPr/>
        </p:nvSpPr>
        <p:spPr>
          <a:xfrm>
            <a:off x="4714875" y="1207294"/>
            <a:ext cx="3786188" cy="2886047"/>
          </a:xfrm>
          <a:prstGeom prst="rect">
            <a:avLst/>
          </a:prstGeom>
          <a:solidFill>
            <a:srgbClr val="00D4FF">
              <a:alpha val="5000"/>
            </a:srgbClr>
          </a:solidFill>
          <a:ln/>
        </p:spPr>
      </p:sp>
      <p:sp>
        <p:nvSpPr>
          <p:cNvPr id="14" name="Shape 10"/>
          <p:cNvSpPr/>
          <p:nvPr/>
        </p:nvSpPr>
        <p:spPr>
          <a:xfrm>
            <a:off x="4714875" y="1207294"/>
            <a:ext cx="28575" cy="2886047"/>
          </a:xfrm>
          <a:prstGeom prst="rect">
            <a:avLst/>
          </a:prstGeom>
          <a:solidFill>
            <a:srgbClr val="0066FF"/>
          </a:solidFill>
          <a:ln/>
        </p:spPr>
      </p:sp>
      <p:pic>
        <p:nvPicPr>
          <p:cNvPr id="15" name="Image 2" descr="preencoded.png">    </p:cNvPr>
          <p:cNvPicPr>
            <a:picLocks noChangeAspect="1"/>
          </p:cNvPicPr>
          <p:nvPr/>
        </p:nvPicPr>
        <p:blipFill>
          <a:blip r:embed="rId3"/>
          <a:stretch>
            <a:fillRect/>
          </a:stretch>
        </p:blipFill>
        <p:spPr>
          <a:xfrm>
            <a:off x="4943475" y="1501973"/>
            <a:ext cx="257175" cy="257175"/>
          </a:xfrm>
          <a:prstGeom prst="rect">
            <a:avLst/>
          </a:prstGeom>
        </p:spPr>
      </p:pic>
      <p:sp>
        <p:nvSpPr>
          <p:cNvPr id="16" name="Text 11"/>
          <p:cNvSpPr/>
          <p:nvPr/>
        </p:nvSpPr>
        <p:spPr>
          <a:xfrm>
            <a:off x="4943475" y="1964531"/>
            <a:ext cx="3328988" cy="257175"/>
          </a:xfrm>
          <a:prstGeom prst="rect">
            <a:avLst/>
          </a:prstGeom>
          <a:noFill/>
          <a:ln/>
        </p:spPr>
        <p:txBody>
          <a:bodyPr wrap="none" lIns="0" tIns="0" rIns="0" bIns="0" rtlCol="0" anchor="ctr">
            <a:spAutoFit/>
          </a:bodyPr>
          <a:lstStyle/>
          <a:p>
            <a:pPr indent="0" marL="0">
              <a:buNone/>
            </a:pPr>
            <a:r>
              <a:rPr lang="en-US" sz="1350" b="1" dirty="0">
                <a:solidFill>
                  <a:srgbClr val="FFFFFF"/>
                </a:solidFill>
                <a:latin typeface="Noto Sans" pitchFamily="34" charset="0"/>
                <a:ea typeface="Noto Sans" pitchFamily="34" charset="-122"/>
                <a:cs typeface="Noto Sans" pitchFamily="34" charset="-120"/>
              </a:rPr>
              <a:t>Looker Studio</a:t>
            </a:r>
            <a:endParaRPr lang="en-US" sz="1350" dirty="0"/>
          </a:p>
        </p:txBody>
      </p:sp>
      <p:sp>
        <p:nvSpPr>
          <p:cNvPr id="17" name="Text 12"/>
          <p:cNvSpPr/>
          <p:nvPr/>
        </p:nvSpPr>
        <p:spPr>
          <a:xfrm>
            <a:off x="4943475" y="2364581"/>
            <a:ext cx="3328988" cy="567203"/>
          </a:xfrm>
          <a:prstGeom prst="rect">
            <a:avLst/>
          </a:prstGeom>
          <a:noFill/>
          <a:ln/>
        </p:spPr>
        <p:txBody>
          <a:bodyPr wrap="square" lIns="238125" tIns="102108" rIns="0" bIns="102108" rtlCol="0" anchor="ctr">
            <a:spAutoFit/>
          </a:bodyPr>
          <a:lstStyle/>
          <a:p>
            <a:pPr algn="l" indent="0" marL="0">
              <a:buNone/>
            </a:pPr>
            <a:r>
              <a:rPr lang="en-US" sz="889" dirty="0">
                <a:solidFill>
                  <a:srgbClr val="E8E8E8"/>
                </a:solidFill>
                <a:latin typeface="Noto Sans" pitchFamily="34" charset="0"/>
                <a:ea typeface="Noto Sans" pitchFamily="34" charset="-122"/>
                <a:cs typeface="Noto Sans" pitchFamily="34" charset="-120"/>
              </a:rPr>
              <a:t>Valor del Dólar (para calcular el saldo de Santander en cashflow)</a:t>
            </a:r>
            <a:endParaRPr lang="en-US" sz="889" dirty="0"/>
          </a:p>
        </p:txBody>
      </p:sp>
      <p:sp>
        <p:nvSpPr>
          <p:cNvPr id="18" name="Text 13"/>
          <p:cNvSpPr/>
          <p:nvPr/>
        </p:nvSpPr>
        <p:spPr>
          <a:xfrm>
            <a:off x="4943475" y="2931784"/>
            <a:ext cx="3328988" cy="372898"/>
          </a:xfrm>
          <a:prstGeom prst="rect">
            <a:avLst/>
          </a:prstGeom>
          <a:noFill/>
          <a:ln/>
        </p:spPr>
        <p:txBody>
          <a:bodyPr wrap="square" lIns="238125" tIns="102108" rIns="0" bIns="102108" rtlCol="0" anchor="ctr">
            <a:spAutoFit/>
          </a:bodyPr>
          <a:lstStyle/>
          <a:p>
            <a:pPr algn="l" indent="0" marL="0">
              <a:buNone/>
            </a:pPr>
            <a:r>
              <a:rPr lang="en-US" sz="889" dirty="0">
                <a:solidFill>
                  <a:srgbClr val="E8E8E8"/>
                </a:solidFill>
                <a:latin typeface="Noto Sans" pitchFamily="34" charset="0"/>
                <a:ea typeface="Noto Sans" pitchFamily="34" charset="-122"/>
                <a:cs typeface="Noto Sans" pitchFamily="34" charset="-120"/>
              </a:rPr>
              <a:t>Estética de gráficos de proyecciones</a:t>
            </a:r>
            <a:endParaRPr lang="en-US" sz="889" dirty="0"/>
          </a:p>
        </p:txBody>
      </p:sp>
      <p:sp>
        <p:nvSpPr>
          <p:cNvPr id="19" name="Text 14"/>
          <p:cNvSpPr/>
          <p:nvPr/>
        </p:nvSpPr>
        <p:spPr>
          <a:xfrm>
            <a:off x="4943475" y="3304682"/>
            <a:ext cx="3328988" cy="560059"/>
          </a:xfrm>
          <a:prstGeom prst="rect">
            <a:avLst/>
          </a:prstGeom>
          <a:noFill/>
          <a:ln/>
        </p:spPr>
        <p:txBody>
          <a:bodyPr wrap="square" lIns="238125" tIns="102108" rIns="0" bIns="102108" rtlCol="0" anchor="ctr">
            <a:spAutoFit/>
          </a:bodyPr>
          <a:lstStyle/>
          <a:p>
            <a:pPr algn="l" indent="0" marL="0">
              <a:buNone/>
            </a:pPr>
            <a:r>
              <a:rPr lang="en-US" sz="889" dirty="0">
                <a:solidFill>
                  <a:srgbClr val="E8E8E8"/>
                </a:solidFill>
                <a:latin typeface="Noto Sans" pitchFamily="34" charset="0"/>
                <a:ea typeface="Noto Sans" pitchFamily="34" charset="-122"/>
                <a:cs typeface="Noto Sans" pitchFamily="34" charset="-120"/>
              </a:rPr>
              <a:t>Filtros de mes: que muestren la información del mes actual de forma predeterminada</a:t>
            </a:r>
            <a:endParaRPr lang="en-US" sz="889" dirty="0"/>
          </a:p>
        </p:txBody>
      </p:sp>
      <p:sp>
        <p:nvSpPr>
          <p:cNvPr id="20" name="Shape 15"/>
          <p:cNvSpPr/>
          <p:nvPr/>
        </p:nvSpPr>
        <p:spPr>
          <a:xfrm>
            <a:off x="571500" y="4307653"/>
            <a:ext cx="8001000" cy="1037239"/>
          </a:xfrm>
          <a:prstGeom prst="rect">
            <a:avLst/>
          </a:prstGeom>
          <a:solidFill>
            <a:srgbClr val="FF9900">
              <a:alpha val="12000"/>
            </a:srgbClr>
          </a:solidFill>
          <a:ln/>
        </p:spPr>
      </p:sp>
      <p:sp>
        <p:nvSpPr>
          <p:cNvPr id="21" name="Shape 16"/>
          <p:cNvSpPr/>
          <p:nvPr/>
        </p:nvSpPr>
        <p:spPr>
          <a:xfrm>
            <a:off x="571500" y="4307653"/>
            <a:ext cx="28575" cy="1037239"/>
          </a:xfrm>
          <a:prstGeom prst="rect">
            <a:avLst/>
          </a:prstGeom>
          <a:solidFill>
            <a:srgbClr val="FF9900"/>
          </a:solidFill>
          <a:ln/>
        </p:spPr>
      </p:sp>
      <p:pic>
        <p:nvPicPr>
          <p:cNvPr id="22" name="Image 3" descr="preencoded.png">    </p:cNvPr>
          <p:cNvPicPr>
            <a:picLocks noChangeAspect="1"/>
          </p:cNvPicPr>
          <p:nvPr/>
        </p:nvPicPr>
        <p:blipFill>
          <a:blip r:embed="rId4"/>
          <a:stretch>
            <a:fillRect/>
          </a:stretch>
        </p:blipFill>
        <p:spPr>
          <a:xfrm>
            <a:off x="4471988" y="4502321"/>
            <a:ext cx="200025" cy="200025"/>
          </a:xfrm>
          <a:prstGeom prst="rect">
            <a:avLst/>
          </a:prstGeom>
        </p:spPr>
      </p:pic>
      <p:sp>
        <p:nvSpPr>
          <p:cNvPr id="23" name="Text 17"/>
          <p:cNvSpPr/>
          <p:nvPr/>
        </p:nvSpPr>
        <p:spPr>
          <a:xfrm>
            <a:off x="742950" y="4836291"/>
            <a:ext cx="7658100" cy="365727"/>
          </a:xfrm>
          <a:prstGeom prst="rect">
            <a:avLst/>
          </a:prstGeom>
          <a:noFill/>
          <a:ln/>
        </p:spPr>
        <p:txBody>
          <a:bodyPr wrap="square" lIns="0" tIns="0" rIns="0" bIns="0" rtlCol="0" anchor="ctr">
            <a:spAutoFit/>
          </a:bodyPr>
          <a:lstStyle/>
          <a:p>
            <a:pPr algn="ctr" indent="0" marL="0">
              <a:buNone/>
            </a:pPr>
            <a:r>
              <a:rPr lang="en-US" sz="837" b="1" dirty="0">
                <a:solidFill>
                  <a:srgbClr val="E8E8E8"/>
                </a:solidFill>
                <a:latin typeface="Noto Sans" pitchFamily="34" charset="0"/>
                <a:ea typeface="Noto Sans" pitchFamily="34" charset="-122"/>
                <a:cs typeface="Noto Sans" pitchFamily="34" charset="-120"/>
              </a:rPr>
              <a:t> Estos procesos se actualizan de forma manual mensualmente. Es importante mantener la consistencia en las actualizaciones para garantizar la precisión de los datos en el dashboard. </a:t>
            </a:r>
            <a:endParaRPr lang="en-US" sz="83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6286500" y="-1071562"/>
            <a:ext cx="3571875" cy="3571875"/>
          </a:xfrm>
          <a:prstGeom prst="ellipse">
            <a:avLst/>
          </a:prstGeom>
          <a:solidFill>
            <a:srgbClr val="0066FF">
              <a:alpha val="10000"/>
            </a:srgbClr>
          </a:solidFill>
          <a:ln/>
        </p:spPr>
      </p:sp>
      <p:sp>
        <p:nvSpPr>
          <p:cNvPr id="4" name="Shape 1"/>
          <p:cNvSpPr/>
          <p:nvPr/>
        </p:nvSpPr>
        <p:spPr>
          <a:xfrm>
            <a:off x="-571500" y="3214688"/>
            <a:ext cx="2500313" cy="2500313"/>
          </a:xfrm>
          <a:prstGeom prst="ellipse">
            <a:avLst/>
          </a:prstGeom>
          <a:solidFill>
            <a:srgbClr val="00D4FF">
              <a:alpha val="10000"/>
            </a:srgbClr>
          </a:solidFill>
          <a:ln/>
        </p:spPr>
      </p:sp>
      <p:sp>
        <p:nvSpPr>
          <p:cNvPr id="5" name="Shape 2"/>
          <p:cNvSpPr/>
          <p:nvPr/>
        </p:nvSpPr>
        <p:spPr>
          <a:xfrm>
            <a:off x="914400" y="2571750"/>
            <a:ext cx="1428750" cy="1428750"/>
          </a:xfrm>
          <a:prstGeom prst="ellipse">
            <a:avLst/>
          </a:prstGeom>
          <a:solidFill>
            <a:srgbClr val="0066FF">
              <a:alpha val="5000"/>
            </a:srgbClr>
          </a:solidFill>
          <a:ln/>
        </p:spPr>
      </p:sp>
      <p:sp>
        <p:nvSpPr>
          <p:cNvPr id="6" name="Text 3"/>
          <p:cNvSpPr/>
          <p:nvPr/>
        </p:nvSpPr>
        <p:spPr>
          <a:xfrm>
            <a:off x="2000250" y="400050"/>
            <a:ext cx="5143500" cy="771525"/>
          </a:xfrm>
          <a:prstGeom prst="rect">
            <a:avLst/>
          </a:prstGeom>
          <a:noFill/>
          <a:ln/>
        </p:spPr>
        <p:txBody>
          <a:bodyPr wrap="none" lIns="0" tIns="0" rIns="0" bIns="0" rtlCol="0" anchor="ctr">
            <a:spAutoFit/>
          </a:bodyPr>
          <a:lstStyle/>
          <a:p>
            <a:pPr algn="ctr" indent="0" marL="0">
              <a:buNone/>
            </a:pPr>
            <a:r>
              <a:rPr lang="en-US" sz="4050" b="1" spc="-1" kern="0" dirty="0">
                <a:solidFill>
                  <a:srgbClr val="FFFFFF"/>
                </a:solidFill>
                <a:latin typeface="Noto Sans" pitchFamily="34" charset="0"/>
                <a:ea typeface="Noto Sans" pitchFamily="34" charset="-122"/>
                <a:cs typeface="Noto Sans" pitchFamily="34" charset="-120"/>
              </a:rPr>
              <a:t>Muchas Gracias</a:t>
            </a:r>
            <a:endParaRPr lang="en-US" sz="4050" dirty="0"/>
          </a:p>
        </p:txBody>
      </p:sp>
      <p:sp>
        <p:nvSpPr>
          <p:cNvPr id="7" name="Shape 4"/>
          <p:cNvSpPr/>
          <p:nvPr/>
        </p:nvSpPr>
        <p:spPr>
          <a:xfrm>
            <a:off x="4036219" y="1385888"/>
            <a:ext cx="1071563" cy="28575"/>
          </a:xfrm>
          <a:prstGeom prst="rect">
            <a:avLst/>
          </a:prstGeom>
          <a:solidFill>
            <a:srgbClr val="00D4FF"/>
          </a:solidFill>
          <a:ln/>
        </p:spPr>
      </p:sp>
      <p:sp>
        <p:nvSpPr>
          <p:cNvPr id="8" name="Text 5"/>
          <p:cNvSpPr/>
          <p:nvPr/>
        </p:nvSpPr>
        <p:spPr>
          <a:xfrm>
            <a:off x="2000250" y="1700213"/>
            <a:ext cx="5143500" cy="514350"/>
          </a:xfrm>
          <a:prstGeom prst="rect">
            <a:avLst/>
          </a:prstGeom>
          <a:noFill/>
          <a:ln/>
        </p:spPr>
        <p:txBody>
          <a:bodyPr wrap="square" lIns="0" tIns="0" rIns="0" bIns="0" rtlCol="0" anchor="ctr">
            <a:spAutoFit/>
          </a:bodyPr>
          <a:lstStyle/>
          <a:p>
            <a:pPr algn="ctr" indent="0" marL="0">
              <a:buNone/>
            </a:pPr>
            <a:r>
              <a:rPr lang="en-US" sz="1350" dirty="0">
                <a:solidFill>
                  <a:srgbClr val="E8E8E8"/>
                </a:solidFill>
                <a:latin typeface="Noto Sans" pitchFamily="34" charset="0"/>
                <a:ea typeface="Noto Sans" pitchFamily="34" charset="-122"/>
                <a:cs typeface="Noto Sans" pitchFamily="34" charset="-120"/>
              </a:rPr>
              <a:t> Por utilizar el Manual de Instructivo del Dashboard Financiero de Epical </a:t>
            </a:r>
            <a:endParaRPr lang="en-US" sz="1350" dirty="0"/>
          </a:p>
        </p:txBody>
      </p:sp>
      <p:pic>
        <p:nvPicPr>
          <p:cNvPr id="9" name="Image 1" descr="preencoded.png">    </p:cNvPr>
          <p:cNvPicPr>
            <a:picLocks noChangeAspect="1"/>
          </p:cNvPicPr>
          <p:nvPr/>
        </p:nvPicPr>
        <p:blipFill>
          <a:blip r:embed="rId2">
            <a:alphaModFix amt="90000"/>
          </a:blip>
          <a:stretch>
            <a:fillRect/>
          </a:stretch>
        </p:blipFill>
        <p:spPr>
          <a:xfrm>
            <a:off x="2000250" y="2571750"/>
            <a:ext cx="1785938" cy="1785938"/>
          </a:xfrm>
          <a:prstGeom prst="rect">
            <a:avLst/>
          </a:prstGeom>
        </p:spPr>
      </p:pic>
      <p:sp>
        <p:nvSpPr>
          <p:cNvPr id="10" name="Text 6"/>
          <p:cNvSpPr/>
          <p:nvPr/>
        </p:nvSpPr>
        <p:spPr>
          <a:xfrm>
            <a:off x="2000250" y="4572000"/>
            <a:ext cx="5143500" cy="171450"/>
          </a:xfrm>
          <a:prstGeom prst="rect">
            <a:avLst/>
          </a:prstGeom>
          <a:noFill/>
          <a:ln/>
        </p:spPr>
        <p:txBody>
          <a:bodyPr wrap="none" lIns="0" tIns="0" rIns="0" bIns="0" rtlCol="0" anchor="ctr">
            <a:spAutoFit/>
          </a:bodyPr>
          <a:lstStyle/>
          <a:p>
            <a:pPr algn="ctr" indent="0" marL="0">
              <a:buNone/>
            </a:pPr>
            <a:r>
              <a:rPr lang="en-US" sz="837" spc="1" kern="0" dirty="0">
                <a:solidFill>
                  <a:srgbClr val="00D4FF"/>
                </a:solidFill>
                <a:latin typeface="Noto Sans" pitchFamily="34" charset="0"/>
                <a:ea typeface="Noto Sans" pitchFamily="34" charset="-122"/>
                <a:cs typeface="Noto Sans" pitchFamily="34" charset="-120"/>
              </a:rPr>
              <a:t>EPICAL DIGITAL</a:t>
            </a:r>
            <a:endParaRPr lang="en-US" sz="83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2025-10-13T18:07:55Z</dcterms:created>
  <dcterms:modified xsi:type="dcterms:W3CDTF">2025-10-13T18:07:55Z</dcterms:modified>
</cp:coreProperties>
</file>